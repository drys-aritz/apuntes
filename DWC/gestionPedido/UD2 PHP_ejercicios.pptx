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3VJZzrTzcE47/Grr00MCwUczEH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18"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5ff8cd22f3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g25ff8cd22f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5d9532cd90_0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g25d9532cd90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61097770e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g261097770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5d9532cd90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g25d9532cd90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a43e12f40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g2a43e12f4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5f54edecb2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25f54edecb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61097770e5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g261097770e5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5f54edecb2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g25f54edecb2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61097770e5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g261097770e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67dcef5d75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 name="Google Shape;184;g267dcef5d7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7d41c7e04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5" name="Google Shape;195;g27d41c7e04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7d41c7e044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g27d41c7e04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61097770e5_0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g261097770e5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61097770e5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g261097770e5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67f6732c2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9" name="Google Shape;239;g267f6732c2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67f6732c23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267f6732c2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756436fe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2" name="Google Shape;262;g2756436fe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756436fed1_0_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3" name="Google Shape;273;g2756436fed1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5ff8cd22f3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4" name="Google Shape;284;g25ff8cd22f3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7eff663c0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g27eff663c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7d41c7e044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1" name="Google Shape;301;g27d41c7e044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7d41c7e044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0" name="Google Shape;310;g27d41c7e044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4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4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4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4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4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4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5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5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3"/>
          <p:cNvSpPr>
            <a:spLocks noGrp="1"/>
          </p:cNvSpPr>
          <p:nvPr>
            <p:ph type="pic" idx="2"/>
          </p:nvPr>
        </p:nvSpPr>
        <p:spPr>
          <a:xfrm>
            <a:off x="5183188" y="987425"/>
            <a:ext cx="6172200" cy="4873625"/>
          </a:xfrm>
          <a:prstGeom prst="rect">
            <a:avLst/>
          </a:prstGeom>
          <a:noFill/>
          <a:ln>
            <a:noFill/>
          </a:ln>
        </p:spPr>
      </p:sp>
      <p:sp>
        <p:nvSpPr>
          <p:cNvPr id="64" name="Google Shape;64;p5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5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CCE0F2"/>
            </a:gs>
            <a:gs pos="66000">
              <a:srgbClr val="F6F9FC"/>
            </a:gs>
            <a:gs pos="100000">
              <a:srgbClr val="F6F9FC"/>
            </a:gs>
          </a:gsLst>
          <a:lin ang="5400000" scaled="0"/>
        </a:grad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568960" y="2493963"/>
            <a:ext cx="10942320" cy="23876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6000"/>
              <a:buFont typeface="Calibri"/>
              <a:buNone/>
            </a:pPr>
            <a:r>
              <a:rPr lang="es-ES"/>
              <a:t>PROGRAMACIÓN WEB CON PHP</a:t>
            </a:r>
            <a:endParaRPr/>
          </a:p>
          <a:p>
            <a:pPr marL="0" lvl="0" indent="0" algn="ctr" rtl="0">
              <a:lnSpc>
                <a:spcPct val="90000"/>
              </a:lnSpc>
              <a:spcBef>
                <a:spcPts val="0"/>
              </a:spcBef>
              <a:spcAft>
                <a:spcPts val="0"/>
              </a:spcAft>
              <a:buClr>
                <a:schemeClr val="dk1"/>
              </a:buClr>
              <a:buSzPts val="6000"/>
              <a:buFont typeface="Calibri"/>
              <a:buNone/>
            </a:pPr>
            <a:r>
              <a:rPr lang="es-ES"/>
              <a:t>ejercicios</a:t>
            </a:r>
            <a:endParaRPr/>
          </a:p>
        </p:txBody>
      </p:sp>
      <p:pic>
        <p:nvPicPr>
          <p:cNvPr id="85" name="Google Shape;85;p1"/>
          <p:cNvPicPr preferRelativeResize="0"/>
          <p:nvPr/>
        </p:nvPicPr>
        <p:blipFill rotWithShape="1">
          <a:blip r:embed="rId3">
            <a:alphaModFix/>
          </a:blip>
          <a:srcRect/>
          <a:stretch/>
        </p:blipFill>
        <p:spPr>
          <a:xfrm>
            <a:off x="10260012" y="5584825"/>
            <a:ext cx="1171575" cy="971550"/>
          </a:xfrm>
          <a:prstGeom prst="rect">
            <a:avLst/>
          </a:prstGeom>
          <a:noFill/>
          <a:ln>
            <a:noFill/>
          </a:ln>
        </p:spPr>
      </p:pic>
      <p:sp>
        <p:nvSpPr>
          <p:cNvPr id="86" name="Google Shape;86;p1"/>
          <p:cNvSpPr txBox="1"/>
          <p:nvPr/>
        </p:nvSpPr>
        <p:spPr>
          <a:xfrm>
            <a:off x="1371600" y="1430338"/>
            <a:ext cx="9144000" cy="588962"/>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CC0000"/>
              </a:buClr>
              <a:buSzPts val="2400"/>
              <a:buFont typeface="Arial"/>
              <a:buNone/>
            </a:pPr>
            <a:r>
              <a:rPr lang="es-ES" sz="2400" b="0" i="0" u="none" strike="noStrike" cap="none">
                <a:solidFill>
                  <a:srgbClr val="CC0000"/>
                </a:solidFill>
                <a:latin typeface="Calibri"/>
                <a:ea typeface="Calibri"/>
                <a:cs typeface="Calibri"/>
                <a:sym typeface="Calibri"/>
              </a:rPr>
              <a:t>UNIDAD 2 PHP</a:t>
            </a:r>
            <a:endParaRPr sz="2400" b="0" i="0" u="none" strike="noStrike" cap="none">
              <a:solidFill>
                <a:srgbClr val="CC0000"/>
              </a:solidFill>
              <a:latin typeface="Calibri"/>
              <a:ea typeface="Calibri"/>
              <a:cs typeface="Calibri"/>
              <a:sym typeface="Calibri"/>
            </a:endParaRPr>
          </a:p>
        </p:txBody>
      </p:sp>
      <p:sp>
        <p:nvSpPr>
          <p:cNvPr id="87" name="Google Shape;87;p1"/>
          <p:cNvSpPr txBox="1"/>
          <p:nvPr/>
        </p:nvSpPr>
        <p:spPr>
          <a:xfrm>
            <a:off x="6664960" y="6279376"/>
            <a:ext cx="370050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pic>
        <p:nvPicPr>
          <p:cNvPr id="88" name="Google Shape;88;p1"/>
          <p:cNvPicPr preferRelativeResize="0"/>
          <p:nvPr/>
        </p:nvPicPr>
        <p:blipFill rotWithShape="1">
          <a:blip r:embed="rId4">
            <a:alphaModFix/>
          </a:blip>
          <a:srcRect/>
          <a:stretch/>
        </p:blipFill>
        <p:spPr>
          <a:xfrm>
            <a:off x="5301932" y="2549526"/>
            <a:ext cx="1476375" cy="781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92"/>
        <p:cNvGrpSpPr/>
        <p:nvPr/>
      </p:nvGrpSpPr>
      <p:grpSpPr>
        <a:xfrm>
          <a:off x="0" y="0"/>
          <a:ext cx="0" cy="0"/>
          <a:chOff x="0" y="0"/>
          <a:chExt cx="0" cy="0"/>
        </a:xfrm>
      </p:grpSpPr>
      <p:sp>
        <p:nvSpPr>
          <p:cNvPr id="93" name="Google Shape;93;g25ff8cd22f3_0_2"/>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94" name="Google Shape;94;g25ff8cd22f3_0_2"/>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95" name="Google Shape;95;g25ff8cd22f3_0_2"/>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96" name="Google Shape;96;g25ff8cd22f3_0_2"/>
          <p:cNvSpPr txBox="1">
            <a:spLocks noGrp="1"/>
          </p:cNvSpPr>
          <p:nvPr>
            <p:ph type="ctrTitle"/>
          </p:nvPr>
        </p:nvSpPr>
        <p:spPr>
          <a:xfrm>
            <a:off x="0" y="436604"/>
            <a:ext cx="11587500" cy="11271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SINTAXIS PHP: printf</a:t>
            </a:r>
            <a:endParaRPr sz="3600">
              <a:solidFill>
                <a:srgbClr val="0070C0"/>
              </a:solidFill>
              <a:latin typeface="Arial"/>
              <a:ea typeface="Arial"/>
              <a:cs typeface="Arial"/>
              <a:sym typeface="Arial"/>
            </a:endParaRPr>
          </a:p>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Ejercicio 2.prueba1</a:t>
            </a:r>
            <a:endParaRPr sz="3600">
              <a:solidFill>
                <a:srgbClr val="0070C0"/>
              </a:solidFill>
              <a:latin typeface="Arial"/>
              <a:ea typeface="Arial"/>
              <a:cs typeface="Arial"/>
              <a:sym typeface="Arial"/>
            </a:endParaRPr>
          </a:p>
        </p:txBody>
      </p:sp>
      <p:sp>
        <p:nvSpPr>
          <p:cNvPr id="97" name="Google Shape;97;g25ff8cd22f3_0_2"/>
          <p:cNvSpPr txBox="1"/>
          <p:nvPr/>
        </p:nvSpPr>
        <p:spPr>
          <a:xfrm>
            <a:off x="771000" y="2119675"/>
            <a:ext cx="10045500" cy="4263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ES" sz="2000" b="0" i="0" u="none" strike="noStrike" cap="none">
                <a:solidFill>
                  <a:srgbClr val="FF0000"/>
                </a:solidFill>
                <a:latin typeface="Arial"/>
                <a:ea typeface="Arial"/>
                <a:cs typeface="Arial"/>
                <a:sym typeface="Arial"/>
              </a:rPr>
              <a:t>&lt;?php</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s-ES" sz="2400" b="0" i="0" u="none" strike="noStrike" cap="none">
                <a:solidFill>
                  <a:schemeClr val="dk1"/>
                </a:solidFill>
                <a:latin typeface="Arial"/>
                <a:ea typeface="Arial"/>
                <a:cs typeface="Arial"/>
                <a:sym typeface="Arial"/>
              </a:rPr>
              <a:t>$ciclo="</a:t>
            </a:r>
            <a:r>
              <a:rPr lang="es-ES" sz="2000" b="0" i="1" u="none" strike="noStrike" cap="none">
                <a:solidFill>
                  <a:schemeClr val="dk1"/>
                </a:solidFill>
                <a:latin typeface="Arial"/>
                <a:ea typeface="Arial"/>
                <a:cs typeface="Arial"/>
                <a:sym typeface="Arial"/>
              </a:rPr>
              <a:t>DAW</a:t>
            </a:r>
            <a:r>
              <a:rPr lang="es-ES" sz="2400" b="0" i="0" u="none" strike="noStrike" cap="none">
                <a:solidFill>
                  <a:schemeClr val="dk1"/>
                </a:solidFill>
                <a:latin typeface="Arial"/>
                <a:ea typeface="Arial"/>
                <a:cs typeface="Arial"/>
                <a:sym typeface="Arial"/>
              </a:rPr>
              <a: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s-ES" sz="2400" b="0" i="0" u="none" strike="noStrike" cap="none">
                <a:solidFill>
                  <a:schemeClr val="dk1"/>
                </a:solidFill>
                <a:latin typeface="Arial"/>
                <a:ea typeface="Arial"/>
                <a:cs typeface="Arial"/>
                <a:sym typeface="Arial"/>
              </a:rPr>
              <a:t>$modulo="</a:t>
            </a:r>
            <a:r>
              <a:rPr lang="es-ES" sz="2000" b="0" i="1" u="none" strike="noStrike" cap="none">
                <a:solidFill>
                  <a:schemeClr val="dk1"/>
                </a:solidFill>
                <a:latin typeface="Arial"/>
                <a:ea typeface="Arial"/>
                <a:cs typeface="Arial"/>
                <a:sym typeface="Arial"/>
              </a:rPr>
              <a:t>DWS</a:t>
            </a:r>
            <a:r>
              <a:rPr lang="es-ES" sz="2400" b="0" i="0" u="none" strike="noStrike" cap="none">
                <a:solidFill>
                  <a:schemeClr val="dk1"/>
                </a:solidFill>
                <a:latin typeface="Arial"/>
                <a:ea typeface="Arial"/>
                <a:cs typeface="Arial"/>
                <a:sym typeface="Arial"/>
              </a:rPr>
              <a: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s-ES" sz="2000" b="0" i="0" u="none" strike="noStrike" cap="none">
                <a:solidFill>
                  <a:srgbClr val="1155CC"/>
                </a:solidFill>
                <a:latin typeface="Arial"/>
                <a:ea typeface="Arial"/>
                <a:cs typeface="Arial"/>
                <a:sym typeface="Arial"/>
              </a:rPr>
              <a:t>print </a:t>
            </a:r>
            <a:r>
              <a:rPr lang="es-ES" sz="2400" b="0" i="0" u="none" strike="noStrike" cap="none">
                <a:solidFill>
                  <a:schemeClr val="dk1"/>
                </a:solidFill>
                <a:latin typeface="Arial"/>
                <a:ea typeface="Arial"/>
                <a:cs typeface="Arial"/>
                <a:sym typeface="Arial"/>
              </a:rPr>
              <a:t>"&lt;p&gt;";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s-ES" sz="2000" b="0" i="0" u="none" strike="noStrike" cap="none">
                <a:solidFill>
                  <a:srgbClr val="1155CC"/>
                </a:solidFill>
                <a:latin typeface="Arial"/>
                <a:ea typeface="Arial"/>
                <a:cs typeface="Arial"/>
                <a:sym typeface="Arial"/>
              </a:rPr>
              <a:t>printf </a:t>
            </a:r>
            <a:r>
              <a:rPr lang="es-ES" sz="2400" b="0" i="0" u="none" strike="noStrike" cap="none">
                <a:solidFill>
                  <a:schemeClr val="dk1"/>
                </a:solidFill>
                <a:latin typeface="Arial"/>
                <a:ea typeface="Arial"/>
                <a:cs typeface="Arial"/>
                <a:sym typeface="Arial"/>
              </a:rPr>
              <a:t>("</a:t>
            </a:r>
            <a:r>
              <a:rPr lang="es-ES" sz="2400" b="1" i="0" u="none" strike="noStrike" cap="none">
                <a:solidFill>
                  <a:schemeClr val="accent2"/>
                </a:solidFill>
                <a:latin typeface="Arial"/>
                <a:ea typeface="Arial"/>
                <a:cs typeface="Arial"/>
                <a:sym typeface="Arial"/>
              </a:rPr>
              <a:t>%s</a:t>
            </a:r>
            <a:r>
              <a:rPr lang="es-ES" sz="2400" b="0" i="0" u="none" strike="noStrike" cap="none">
                <a:solidFill>
                  <a:schemeClr val="dk1"/>
                </a:solidFill>
                <a:latin typeface="Arial"/>
                <a:ea typeface="Arial"/>
                <a:cs typeface="Arial"/>
                <a:sym typeface="Arial"/>
              </a:rPr>
              <a:t> </a:t>
            </a:r>
            <a:r>
              <a:rPr lang="es-ES" sz="2000" b="0" i="1" u="none" strike="noStrike" cap="none">
                <a:solidFill>
                  <a:schemeClr val="dk1"/>
                </a:solidFill>
                <a:latin typeface="Arial"/>
                <a:ea typeface="Arial"/>
                <a:cs typeface="Arial"/>
                <a:sym typeface="Arial"/>
              </a:rPr>
              <a:t>es un módulo de</a:t>
            </a:r>
            <a:r>
              <a:rPr lang="es-ES" sz="2400" b="0" i="0" u="none" strike="noStrike" cap="none">
                <a:solidFill>
                  <a:schemeClr val="dk1"/>
                </a:solidFill>
                <a:latin typeface="Arial"/>
                <a:ea typeface="Arial"/>
                <a:cs typeface="Arial"/>
                <a:sym typeface="Arial"/>
              </a:rPr>
              <a:t> </a:t>
            </a:r>
            <a:r>
              <a:rPr lang="es-ES" sz="2400" b="1" i="0" u="none" strike="noStrike" cap="none">
                <a:solidFill>
                  <a:schemeClr val="accent2"/>
                </a:solidFill>
                <a:latin typeface="Arial"/>
                <a:ea typeface="Arial"/>
                <a:cs typeface="Arial"/>
                <a:sym typeface="Arial"/>
              </a:rPr>
              <a:t>%d</a:t>
            </a:r>
            <a:r>
              <a:rPr lang="es-ES" sz="2400" b="0" i="0" u="none" strike="noStrike" cap="none">
                <a:solidFill>
                  <a:schemeClr val="dk1"/>
                </a:solidFill>
                <a:latin typeface="Arial"/>
                <a:ea typeface="Arial"/>
                <a:cs typeface="Arial"/>
                <a:sym typeface="Arial"/>
              </a:rPr>
              <a:t> </a:t>
            </a:r>
            <a:r>
              <a:rPr lang="es-ES" sz="2000" b="0" i="1" u="none" strike="noStrike" cap="none">
                <a:solidFill>
                  <a:schemeClr val="dk1"/>
                </a:solidFill>
                <a:latin typeface="Arial"/>
                <a:ea typeface="Arial"/>
                <a:cs typeface="Arial"/>
                <a:sym typeface="Arial"/>
              </a:rPr>
              <a:t>curso de</a:t>
            </a:r>
            <a:r>
              <a:rPr lang="es-ES" sz="2400" b="0" i="0" u="none" strike="noStrike" cap="none">
                <a:solidFill>
                  <a:schemeClr val="dk1"/>
                </a:solidFill>
                <a:latin typeface="Arial"/>
                <a:ea typeface="Arial"/>
                <a:cs typeface="Arial"/>
                <a:sym typeface="Arial"/>
              </a:rPr>
              <a:t> </a:t>
            </a:r>
            <a:r>
              <a:rPr lang="es-ES" sz="2400" b="1" i="0" u="none" strike="noStrike" cap="none">
                <a:solidFill>
                  <a:schemeClr val="accent2"/>
                </a:solidFill>
                <a:latin typeface="Arial"/>
                <a:ea typeface="Arial"/>
                <a:cs typeface="Arial"/>
                <a:sym typeface="Arial"/>
              </a:rPr>
              <a:t>%s</a:t>
            </a:r>
            <a:r>
              <a:rPr lang="es-ES" sz="2400" b="0" i="0" u="none" strike="noStrike" cap="none">
                <a:solidFill>
                  <a:schemeClr val="dk1"/>
                </a:solidFill>
                <a:latin typeface="Arial"/>
                <a:ea typeface="Arial"/>
                <a:cs typeface="Arial"/>
                <a:sym typeface="Arial"/>
              </a:rPr>
              <a:t>", $</a:t>
            </a:r>
            <a:r>
              <a:rPr lang="es-ES" sz="2400" b="0" i="0" u="none" strike="noStrike" cap="none">
                <a:solidFill>
                  <a:srgbClr val="0070C0"/>
                </a:solidFill>
                <a:latin typeface="Arial"/>
                <a:ea typeface="Arial"/>
                <a:cs typeface="Arial"/>
                <a:sym typeface="Arial"/>
              </a:rPr>
              <a:t>modulo</a:t>
            </a:r>
            <a:r>
              <a:rPr lang="es-ES" sz="2400" b="0" i="0" u="none" strike="noStrike" cap="none">
                <a:solidFill>
                  <a:schemeClr val="dk1"/>
                </a:solidFill>
                <a:latin typeface="Arial"/>
                <a:ea typeface="Arial"/>
                <a:cs typeface="Arial"/>
                <a:sym typeface="Arial"/>
              </a:rPr>
              <a:t>, 2, $</a:t>
            </a:r>
            <a:r>
              <a:rPr lang="es-ES" sz="2400" b="0" i="0" u="none" strike="noStrike" cap="none">
                <a:solidFill>
                  <a:srgbClr val="0070C0"/>
                </a:solidFill>
                <a:latin typeface="Arial"/>
                <a:ea typeface="Arial"/>
                <a:cs typeface="Arial"/>
                <a:sym typeface="Arial"/>
              </a:rPr>
              <a:t>ciclo</a:t>
            </a:r>
            <a:r>
              <a:rPr lang="es-ES" sz="2400" b="0" i="0" u="none" strike="noStrike" cap="none">
                <a:solidFill>
                  <a:schemeClr val="dk1"/>
                </a:solidFill>
                <a:latin typeface="Arial"/>
                <a:ea typeface="Arial"/>
                <a:cs typeface="Arial"/>
                <a:sym typeface="Arial"/>
              </a:rPr>
              <a: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s-ES" sz="2000" b="0" i="1" u="none" strike="noStrike" cap="none">
                <a:solidFill>
                  <a:schemeClr val="dk1"/>
                </a:solidFill>
                <a:latin typeface="Arial"/>
                <a:ea typeface="Arial"/>
                <a:cs typeface="Arial"/>
                <a:sym typeface="Arial"/>
              </a:rPr>
              <a:t>/</a:t>
            </a:r>
            <a:r>
              <a:rPr lang="es-ES" sz="1700" b="0" i="1" u="none" strike="noStrike" cap="none">
                <a:solidFill>
                  <a:schemeClr val="dk1"/>
                </a:solidFill>
                <a:latin typeface="Arial"/>
                <a:ea typeface="Arial"/>
                <a:cs typeface="Arial"/>
                <a:sym typeface="Arial"/>
              </a:rPr>
              <a:t>/ La salida será DWES es un módulo de 2 curso de DAW</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s-ES" sz="2000" b="0" i="0" u="none" strike="noStrike" cap="none">
                <a:solidFill>
                  <a:srgbClr val="1155CC"/>
                </a:solidFill>
                <a:latin typeface="Arial"/>
                <a:ea typeface="Arial"/>
                <a:cs typeface="Arial"/>
                <a:sym typeface="Arial"/>
              </a:rPr>
              <a:t>printf </a:t>
            </a:r>
            <a:r>
              <a:rPr lang="es-ES" sz="2400" b="0" i="0" u="none" strike="noStrike" cap="none">
                <a:solidFill>
                  <a:schemeClr val="dk1"/>
                </a:solidFill>
                <a:latin typeface="Arial"/>
                <a:ea typeface="Arial"/>
                <a:cs typeface="Arial"/>
                <a:sym typeface="Arial"/>
              </a:rPr>
              <a:t>("</a:t>
            </a:r>
            <a:r>
              <a:rPr lang="es-ES" sz="2000" b="0" i="1" u="none" strike="noStrike" cap="none">
                <a:solidFill>
                  <a:schemeClr val="dk1"/>
                </a:solidFill>
                <a:latin typeface="Arial"/>
                <a:ea typeface="Arial"/>
                <a:cs typeface="Arial"/>
                <a:sym typeface="Arial"/>
              </a:rPr>
              <a:t>El número PI vale</a:t>
            </a:r>
            <a:r>
              <a:rPr lang="es-ES" sz="1400" b="0" i="0" u="none" strike="noStrike" cap="none">
                <a:solidFill>
                  <a:schemeClr val="dk1"/>
                </a:solidFill>
                <a:latin typeface="Arial"/>
                <a:ea typeface="Arial"/>
                <a:cs typeface="Arial"/>
                <a:sym typeface="Arial"/>
              </a:rPr>
              <a:t> </a:t>
            </a:r>
            <a:r>
              <a:rPr lang="es-ES" sz="2400" b="1" i="0" u="none" strike="noStrike" cap="none">
                <a:solidFill>
                  <a:schemeClr val="accent2"/>
                </a:solidFill>
                <a:latin typeface="Arial"/>
                <a:ea typeface="Arial"/>
                <a:cs typeface="Arial"/>
                <a:sym typeface="Arial"/>
              </a:rPr>
              <a:t>%+.2f</a:t>
            </a:r>
            <a:r>
              <a:rPr lang="es-ES" sz="2400" b="0" i="0" u="none" strike="noStrike" cap="none">
                <a:solidFill>
                  <a:schemeClr val="dk1"/>
                </a:solidFill>
                <a:latin typeface="Arial"/>
                <a:ea typeface="Arial"/>
                <a:cs typeface="Arial"/>
                <a:sym typeface="Arial"/>
              </a:rPr>
              <a:t>"</a:t>
            </a:r>
            <a:r>
              <a:rPr lang="es-ES" sz="2300" b="0" i="0" u="none" strike="noStrike" cap="none">
                <a:solidFill>
                  <a:schemeClr val="dk1"/>
                </a:solidFill>
                <a:latin typeface="Arial"/>
                <a:ea typeface="Arial"/>
                <a:cs typeface="Arial"/>
                <a:sym typeface="Arial"/>
              </a:rPr>
              <a:t>, </a:t>
            </a:r>
            <a:r>
              <a:rPr lang="es-ES" sz="2000" b="0" i="1" u="none" strike="noStrike" cap="none">
                <a:solidFill>
                  <a:schemeClr val="dk1"/>
                </a:solidFill>
                <a:latin typeface="Arial"/>
                <a:ea typeface="Arial"/>
                <a:cs typeface="Arial"/>
                <a:sym typeface="Arial"/>
              </a:rPr>
              <a:t>3.1416); </a:t>
            </a:r>
            <a:endParaRPr sz="2000" b="0" i="1"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s-ES" sz="2000" b="0" i="1" u="none" strike="noStrike" cap="none">
                <a:solidFill>
                  <a:schemeClr val="dk1"/>
                </a:solidFill>
                <a:latin typeface="Arial"/>
                <a:ea typeface="Arial"/>
                <a:cs typeface="Arial"/>
                <a:sym typeface="Arial"/>
              </a:rPr>
              <a:t>/</a:t>
            </a:r>
            <a:r>
              <a:rPr lang="es-ES" sz="1700" b="0" i="1" u="none" strike="noStrike" cap="none">
                <a:solidFill>
                  <a:schemeClr val="dk1"/>
                </a:solidFill>
                <a:latin typeface="Arial"/>
                <a:ea typeface="Arial"/>
                <a:cs typeface="Arial"/>
                <a:sym typeface="Arial"/>
              </a:rPr>
              <a:t>/ La salida será el número PI con signo y dos decimales +3.14 </a:t>
            </a:r>
            <a:r>
              <a:rPr lang="es-ES" sz="2100" b="0" i="1" u="none" strike="noStrike" cap="none">
                <a:solidFill>
                  <a:schemeClr val="dk1"/>
                </a:solidFill>
                <a:latin typeface="Arial"/>
                <a:ea typeface="Arial"/>
                <a:cs typeface="Arial"/>
                <a:sym typeface="Arial"/>
              </a:rPr>
              <a:t> </a:t>
            </a:r>
            <a:endParaRPr sz="2100" b="0" i="1"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s-ES" sz="2000" b="0" i="0" u="none" strike="noStrike" cap="none">
                <a:solidFill>
                  <a:srgbClr val="1155CC"/>
                </a:solidFill>
                <a:latin typeface="Arial"/>
                <a:ea typeface="Arial"/>
                <a:cs typeface="Arial"/>
                <a:sym typeface="Arial"/>
              </a:rPr>
              <a:t>print</a:t>
            </a:r>
            <a:r>
              <a:rPr lang="es-ES" sz="2400" b="0" i="0" u="none" strike="noStrike" cap="none">
                <a:solidFill>
                  <a:schemeClr val="dk1"/>
                </a:solidFill>
                <a:latin typeface="Arial"/>
                <a:ea typeface="Arial"/>
                <a:cs typeface="Arial"/>
                <a:sym typeface="Arial"/>
              </a:rPr>
              <a:t> "&lt;p&gt;";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s-ES" sz="2000" b="0" i="0" u="none" strike="noStrike" cap="none">
                <a:solidFill>
                  <a:srgbClr val="FF0000"/>
                </a:solidFill>
                <a:latin typeface="Arial"/>
                <a:ea typeface="Arial"/>
                <a:cs typeface="Arial"/>
                <a:sym typeface="Arial"/>
              </a:rPr>
              <a:t>?&gt;</a:t>
            </a:r>
            <a:endParaRPr sz="2400" b="0" i="0" u="none" strike="noStrike" cap="none">
              <a:solidFill>
                <a:schemeClr val="dk1"/>
              </a:solidFill>
              <a:latin typeface="Arial"/>
              <a:ea typeface="Arial"/>
              <a:cs typeface="Arial"/>
              <a:sym typeface="Arial"/>
            </a:endParaRPr>
          </a:p>
        </p:txBody>
      </p:sp>
      <p:sp>
        <p:nvSpPr>
          <p:cNvPr id="98" name="Google Shape;98;g25ff8cd22f3_0_2"/>
          <p:cNvSpPr txBox="1"/>
          <p:nvPr/>
        </p:nvSpPr>
        <p:spPr>
          <a:xfrm>
            <a:off x="990450" y="1633125"/>
            <a:ext cx="9236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00000"/>
                </a:solidFill>
                <a:latin typeface="Arial"/>
                <a:ea typeface="Arial"/>
                <a:cs typeface="Arial"/>
                <a:sym typeface="Arial"/>
              </a:rPr>
              <a:t>Indica cual será la salida de éstas dos órdenes printf</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02"/>
        <p:cNvGrpSpPr/>
        <p:nvPr/>
      </p:nvGrpSpPr>
      <p:grpSpPr>
        <a:xfrm>
          <a:off x="0" y="0"/>
          <a:ext cx="0" cy="0"/>
          <a:chOff x="0" y="0"/>
          <a:chExt cx="0" cy="0"/>
        </a:xfrm>
      </p:grpSpPr>
      <p:sp>
        <p:nvSpPr>
          <p:cNvPr id="103" name="Google Shape;103;g25d9532cd90_0_58"/>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04" name="Google Shape;104;g25d9532cd90_0_58"/>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05" name="Google Shape;105;g25d9532cd90_0_58"/>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06" name="Google Shape;106;g25d9532cd90_0_58"/>
          <p:cNvSpPr txBox="1">
            <a:spLocks noGrp="1"/>
          </p:cNvSpPr>
          <p:nvPr>
            <p:ph type="ctrTitle"/>
          </p:nvPr>
        </p:nvSpPr>
        <p:spPr>
          <a:xfrm>
            <a:off x="0" y="436593"/>
            <a:ext cx="115875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SINTAXIS PHP: echo y print</a:t>
            </a:r>
            <a:endParaRPr sz="3600">
              <a:solidFill>
                <a:srgbClr val="0070C0"/>
              </a:solidFill>
              <a:latin typeface="Arial"/>
              <a:ea typeface="Arial"/>
              <a:cs typeface="Arial"/>
              <a:sym typeface="Arial"/>
            </a:endParaRPr>
          </a:p>
        </p:txBody>
      </p:sp>
      <p:sp>
        <p:nvSpPr>
          <p:cNvPr id="107" name="Google Shape;107;g25d9532cd90_0_58"/>
          <p:cNvSpPr txBox="1"/>
          <p:nvPr/>
        </p:nvSpPr>
        <p:spPr>
          <a:xfrm>
            <a:off x="786575" y="2063000"/>
            <a:ext cx="109449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00000"/>
                </a:solidFill>
                <a:latin typeface="Arial"/>
                <a:ea typeface="Arial"/>
                <a:cs typeface="Arial"/>
                <a:sym typeface="Arial"/>
              </a:rPr>
              <a:t>Crea dos variables, una de tipo  entero y otra de tipo real. Realiza la suma entre ambas y muestra en pantalla.</a:t>
            </a:r>
            <a:endParaRPr sz="2800" b="0" i="0" u="none" strike="noStrike" cap="none">
              <a:solidFill>
                <a:srgbClr val="000000"/>
              </a:solidFill>
              <a:latin typeface="Arial"/>
              <a:ea typeface="Arial"/>
              <a:cs typeface="Arial"/>
              <a:sym typeface="Arial"/>
            </a:endParaRPr>
          </a:p>
          <a:p>
            <a:pPr marL="1170000" marR="0" lvl="0" indent="-406400" algn="l" rtl="0">
              <a:lnSpc>
                <a:spcPct val="100000"/>
              </a:lnSpc>
              <a:spcBef>
                <a:spcPts val="1200"/>
              </a:spcBef>
              <a:spcAft>
                <a:spcPts val="0"/>
              </a:spcAft>
              <a:buClr>
                <a:srgbClr val="000000"/>
              </a:buClr>
              <a:buSzPts val="2800"/>
              <a:buFont typeface="Arial"/>
              <a:buAutoNum type="alphaLcParenR"/>
            </a:pPr>
            <a:r>
              <a:rPr lang="es-ES" sz="2800" b="0" i="0" u="none" strike="noStrike" cap="none">
                <a:solidFill>
                  <a:srgbClr val="000000"/>
                </a:solidFill>
                <a:latin typeface="Arial"/>
                <a:ea typeface="Arial"/>
                <a:cs typeface="Arial"/>
                <a:sym typeface="Arial"/>
              </a:rPr>
              <a:t>obteniendo como resultado un valor real</a:t>
            </a:r>
            <a:endParaRPr sz="2800" b="0" i="0" u="none" strike="noStrike" cap="none">
              <a:solidFill>
                <a:srgbClr val="000000"/>
              </a:solidFill>
              <a:latin typeface="Arial"/>
              <a:ea typeface="Arial"/>
              <a:cs typeface="Arial"/>
              <a:sym typeface="Arial"/>
            </a:endParaRPr>
          </a:p>
          <a:p>
            <a:pPr marL="1170000" marR="0" lvl="0" indent="-406400" algn="l" rtl="0">
              <a:lnSpc>
                <a:spcPct val="100000"/>
              </a:lnSpc>
              <a:spcBef>
                <a:spcPts val="0"/>
              </a:spcBef>
              <a:spcAft>
                <a:spcPts val="0"/>
              </a:spcAft>
              <a:buClr>
                <a:srgbClr val="000000"/>
              </a:buClr>
              <a:buSzPts val="2800"/>
              <a:buFont typeface="Arial"/>
              <a:buAutoNum type="alphaLcParenR"/>
            </a:pPr>
            <a:r>
              <a:rPr lang="es-ES" sz="2800" b="0" i="0" u="none" strike="noStrike" cap="none">
                <a:solidFill>
                  <a:srgbClr val="000000"/>
                </a:solidFill>
                <a:latin typeface="Arial"/>
                <a:ea typeface="Arial"/>
                <a:cs typeface="Arial"/>
                <a:sym typeface="Arial"/>
              </a:rPr>
              <a:t>obteniendo como resultado un valor entero</a:t>
            </a:r>
            <a:endParaRPr sz="2800" b="0" i="0" u="none" strike="noStrike" cap="none">
              <a:solidFill>
                <a:srgbClr val="000000"/>
              </a:solidFill>
              <a:latin typeface="Arial"/>
              <a:ea typeface="Arial"/>
              <a:cs typeface="Arial"/>
              <a:sym typeface="Arial"/>
            </a:endParaRPr>
          </a:p>
        </p:txBody>
      </p:sp>
      <p:sp>
        <p:nvSpPr>
          <p:cNvPr id="108" name="Google Shape;108;g25d9532cd90_0_58"/>
          <p:cNvSpPr txBox="1"/>
          <p:nvPr/>
        </p:nvSpPr>
        <p:spPr>
          <a:xfrm>
            <a:off x="884550" y="1335200"/>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2.</a:t>
            </a:r>
            <a:r>
              <a:rPr lang="es-ES" sz="2800">
                <a:solidFill>
                  <a:srgbClr val="089908"/>
                </a:solidFill>
              </a:rPr>
              <a:t>1</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2-1</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pic>
        <p:nvPicPr>
          <p:cNvPr id="109" name="Google Shape;109;g25d9532cd90_0_58"/>
          <p:cNvPicPr preferRelativeResize="0"/>
          <p:nvPr/>
        </p:nvPicPr>
        <p:blipFill>
          <a:blip r:embed="rId4">
            <a:alphaModFix/>
          </a:blip>
          <a:stretch>
            <a:fillRect/>
          </a:stretch>
        </p:blipFill>
        <p:spPr>
          <a:xfrm>
            <a:off x="1014350" y="4577700"/>
            <a:ext cx="4140200" cy="844032"/>
          </a:xfrm>
          <a:prstGeom prst="rect">
            <a:avLst/>
          </a:prstGeom>
          <a:noFill/>
          <a:ln>
            <a:noFill/>
          </a:ln>
        </p:spPr>
      </p:pic>
      <p:pic>
        <p:nvPicPr>
          <p:cNvPr id="110" name="Google Shape;110;g25d9532cd90_0_58"/>
          <p:cNvPicPr preferRelativeResize="0"/>
          <p:nvPr/>
        </p:nvPicPr>
        <p:blipFill>
          <a:blip r:embed="rId5">
            <a:alphaModFix/>
          </a:blip>
          <a:stretch>
            <a:fillRect/>
          </a:stretch>
        </p:blipFill>
        <p:spPr>
          <a:xfrm>
            <a:off x="5331925" y="4542513"/>
            <a:ext cx="4419600" cy="914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14"/>
        <p:cNvGrpSpPr/>
        <p:nvPr/>
      </p:nvGrpSpPr>
      <p:grpSpPr>
        <a:xfrm>
          <a:off x="0" y="0"/>
          <a:ext cx="0" cy="0"/>
          <a:chOff x="0" y="0"/>
          <a:chExt cx="0" cy="0"/>
        </a:xfrm>
      </p:grpSpPr>
      <p:sp>
        <p:nvSpPr>
          <p:cNvPr id="115" name="Google Shape;115;g261097770e5_0_0"/>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16" name="Google Shape;116;g261097770e5_0_0"/>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17" name="Google Shape;117;g261097770e5_0_0"/>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18" name="Google Shape;118;g261097770e5_0_0"/>
          <p:cNvSpPr txBox="1"/>
          <p:nvPr/>
        </p:nvSpPr>
        <p:spPr>
          <a:xfrm>
            <a:off x="352700" y="147725"/>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2.1</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2-1</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119" name="Google Shape;119;g261097770e5_0_0"/>
          <p:cNvSpPr txBox="1"/>
          <p:nvPr/>
        </p:nvSpPr>
        <p:spPr>
          <a:xfrm>
            <a:off x="1007700" y="859350"/>
            <a:ext cx="6567000" cy="5769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html</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head</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title</a:t>
            </a:r>
            <a:r>
              <a:rPr lang="es-ES" sz="1850">
                <a:solidFill>
                  <a:srgbClr val="808080"/>
                </a:solidFill>
              </a:rPr>
              <a:t>&gt;</a:t>
            </a:r>
            <a:r>
              <a:rPr lang="es-ES" sz="1850">
                <a:solidFill>
                  <a:srgbClr val="B45F06"/>
                </a:solidFill>
              </a:rPr>
              <a:t>Mi primer ejercicio en PHP</a:t>
            </a:r>
            <a:r>
              <a:rPr lang="es-ES" sz="1850">
                <a:solidFill>
                  <a:srgbClr val="808080"/>
                </a:solidFill>
              </a:rPr>
              <a:t>&lt;/</a:t>
            </a:r>
            <a:r>
              <a:rPr lang="es-ES" sz="1850">
                <a:solidFill>
                  <a:srgbClr val="569CD6"/>
                </a:solidFill>
              </a:rPr>
              <a:t>title</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head</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body</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CCCCCC"/>
                </a:solidFill>
              </a:rPr>
              <a:t>    </a:t>
            </a:r>
            <a:r>
              <a:rPr lang="es-ES" sz="1850">
                <a:solidFill>
                  <a:srgbClr val="808080"/>
                </a:solidFill>
              </a:rPr>
              <a:t>&lt;</a:t>
            </a:r>
            <a:r>
              <a:rPr lang="es-ES" sz="1850">
                <a:solidFill>
                  <a:srgbClr val="569CD6"/>
                </a:solidFill>
              </a:rPr>
              <a:t>h1</a:t>
            </a:r>
            <a:r>
              <a:rPr lang="es-ES" sz="1850">
                <a:solidFill>
                  <a:srgbClr val="808080"/>
                </a:solidFill>
              </a:rPr>
              <a:t>&gt;</a:t>
            </a:r>
            <a:r>
              <a:rPr lang="es-ES" sz="1850">
                <a:solidFill>
                  <a:srgbClr val="A61C00"/>
                </a:solidFill>
              </a:rPr>
              <a:t>Mi primer  ejemplo</a:t>
            </a:r>
            <a:r>
              <a:rPr lang="es-ES" sz="1850">
                <a:solidFill>
                  <a:srgbClr val="CCCCCC"/>
                </a:solidFill>
              </a:rPr>
              <a:t> </a:t>
            </a:r>
            <a:r>
              <a:rPr lang="es-ES" sz="1850">
                <a:solidFill>
                  <a:srgbClr val="A61C00"/>
                </a:solidFill>
              </a:rPr>
              <a:t>con variables </a:t>
            </a:r>
            <a:r>
              <a:rPr lang="es-ES" sz="1850">
                <a:solidFill>
                  <a:srgbClr val="808080"/>
                </a:solidFill>
              </a:rPr>
              <a:t>&lt;/</a:t>
            </a:r>
            <a:r>
              <a:rPr lang="es-ES" sz="1850">
                <a:solidFill>
                  <a:srgbClr val="569CD6"/>
                </a:solidFill>
              </a:rPr>
              <a:t>h1</a:t>
            </a:r>
            <a:r>
              <a:rPr lang="es-ES" sz="1850">
                <a:solidFill>
                  <a:srgbClr val="808080"/>
                </a:solidFill>
              </a:rPr>
              <a:t>&gt;</a:t>
            </a:r>
            <a:endParaRPr sz="1850">
              <a:solidFill>
                <a:srgbClr val="808080"/>
              </a:solidFill>
            </a:endParaRPr>
          </a:p>
          <a:p>
            <a:pPr marL="0" lvl="0" indent="0" algn="l" rtl="0">
              <a:lnSpc>
                <a:spcPct val="135714"/>
              </a:lnSpc>
              <a:spcBef>
                <a:spcPts val="0"/>
              </a:spcBef>
              <a:spcAft>
                <a:spcPts val="0"/>
              </a:spcAft>
              <a:buNone/>
            </a:pPr>
            <a:r>
              <a:rPr lang="es-ES" sz="2350">
                <a:solidFill>
                  <a:srgbClr val="FF0000"/>
                </a:solidFill>
              </a:rPr>
              <a:t>&lt;?php</a:t>
            </a:r>
            <a:endParaRPr sz="2350">
              <a:solidFill>
                <a:srgbClr val="FF0000"/>
              </a:solidFill>
            </a:endParaRPr>
          </a:p>
          <a:p>
            <a:pPr marL="0" lvl="0" indent="0" algn="l" rtl="0">
              <a:lnSpc>
                <a:spcPct val="135714"/>
              </a:lnSpc>
              <a:spcBef>
                <a:spcPts val="0"/>
              </a:spcBef>
              <a:spcAft>
                <a:spcPts val="0"/>
              </a:spcAft>
              <a:buNone/>
            </a:pPr>
            <a:r>
              <a:rPr lang="es-ES" sz="2350">
                <a:solidFill>
                  <a:srgbClr val="D4D4D4"/>
                </a:solidFill>
              </a:rPr>
              <a:t> </a:t>
            </a:r>
            <a:r>
              <a:rPr lang="es-ES" sz="2350" b="1">
                <a:solidFill>
                  <a:srgbClr val="336699"/>
                </a:solidFill>
              </a:rPr>
              <a:t>   $x</a:t>
            </a:r>
            <a:r>
              <a:rPr lang="es-ES" sz="2350">
                <a:solidFill>
                  <a:srgbClr val="222222"/>
                </a:solidFill>
              </a:rPr>
              <a:t>=2;</a:t>
            </a:r>
            <a:endParaRPr sz="2350">
              <a:solidFill>
                <a:srgbClr val="222222"/>
              </a:solidFill>
            </a:endParaRPr>
          </a:p>
          <a:p>
            <a:pPr marL="0" lvl="0" indent="0" algn="l" rtl="0">
              <a:lnSpc>
                <a:spcPct val="135714"/>
              </a:lnSpc>
              <a:spcBef>
                <a:spcPts val="0"/>
              </a:spcBef>
              <a:spcAft>
                <a:spcPts val="0"/>
              </a:spcAft>
              <a:buNone/>
            </a:pPr>
            <a:r>
              <a:rPr lang="es-ES" sz="2350">
                <a:solidFill>
                  <a:srgbClr val="D4D4D4"/>
                </a:solidFill>
              </a:rPr>
              <a:t>   </a:t>
            </a:r>
            <a:r>
              <a:rPr lang="es-ES" sz="2350" b="1">
                <a:solidFill>
                  <a:srgbClr val="336699"/>
                </a:solidFill>
              </a:rPr>
              <a:t> $y</a:t>
            </a:r>
            <a:r>
              <a:rPr lang="es-ES" sz="2350">
                <a:solidFill>
                  <a:srgbClr val="222222"/>
                </a:solidFill>
              </a:rPr>
              <a:t>=3.2;</a:t>
            </a:r>
            <a:endParaRPr sz="2350">
              <a:solidFill>
                <a:srgbClr val="222222"/>
              </a:solidFill>
            </a:endParaRPr>
          </a:p>
          <a:p>
            <a:pPr marL="0" lvl="0" indent="0" algn="l" rtl="0">
              <a:lnSpc>
                <a:spcPct val="135714"/>
              </a:lnSpc>
              <a:spcBef>
                <a:spcPts val="0"/>
              </a:spcBef>
              <a:spcAft>
                <a:spcPts val="0"/>
              </a:spcAft>
              <a:buNone/>
            </a:pPr>
            <a:r>
              <a:rPr lang="es-ES" sz="2350">
                <a:solidFill>
                  <a:srgbClr val="D4D4D4"/>
                </a:solidFill>
              </a:rPr>
              <a:t> </a:t>
            </a:r>
            <a:r>
              <a:rPr lang="es-ES" sz="2350" b="1">
                <a:solidFill>
                  <a:srgbClr val="FF0000"/>
                </a:solidFill>
              </a:rPr>
              <a:t>echo </a:t>
            </a:r>
            <a:r>
              <a:rPr lang="es-ES" sz="2350" b="1">
                <a:solidFill>
                  <a:schemeClr val="dk1"/>
                </a:solidFill>
              </a:rPr>
              <a:t>"&lt;h2&gt;La suma de x + y es ";</a:t>
            </a:r>
            <a:endParaRPr sz="2350" b="1">
              <a:solidFill>
                <a:schemeClr val="dk1"/>
              </a:solidFill>
            </a:endParaRPr>
          </a:p>
          <a:p>
            <a:pPr marL="0" lvl="0" indent="0" algn="l" rtl="0">
              <a:lnSpc>
                <a:spcPct val="135714"/>
              </a:lnSpc>
              <a:spcBef>
                <a:spcPts val="0"/>
              </a:spcBef>
              <a:spcAft>
                <a:spcPts val="0"/>
              </a:spcAft>
              <a:buNone/>
            </a:pPr>
            <a:r>
              <a:rPr lang="es-ES" sz="2350" b="1">
                <a:solidFill>
                  <a:srgbClr val="D4D4D4"/>
                </a:solidFill>
              </a:rPr>
              <a:t>   </a:t>
            </a:r>
            <a:r>
              <a:rPr lang="es-ES" sz="2350" b="1">
                <a:solidFill>
                  <a:srgbClr val="336699"/>
                </a:solidFill>
              </a:rPr>
              <a:t> $z</a:t>
            </a:r>
            <a:r>
              <a:rPr lang="es-ES" sz="2350" b="1">
                <a:solidFill>
                  <a:srgbClr val="222222"/>
                </a:solidFill>
              </a:rPr>
              <a:t>=</a:t>
            </a:r>
            <a:r>
              <a:rPr lang="es-ES" sz="2350" b="1">
                <a:solidFill>
                  <a:srgbClr val="336699"/>
                </a:solidFill>
              </a:rPr>
              <a:t>$x</a:t>
            </a:r>
            <a:r>
              <a:rPr lang="es-ES" sz="2350" b="1">
                <a:solidFill>
                  <a:srgbClr val="222222"/>
                </a:solidFill>
              </a:rPr>
              <a:t>+(</a:t>
            </a:r>
            <a:r>
              <a:rPr lang="es-ES" sz="2350" b="1">
                <a:solidFill>
                  <a:srgbClr val="CC0000"/>
                </a:solidFill>
              </a:rPr>
              <a:t>int</a:t>
            </a:r>
            <a:r>
              <a:rPr lang="es-ES" sz="2350" b="1">
                <a:solidFill>
                  <a:srgbClr val="222222"/>
                </a:solidFill>
              </a:rPr>
              <a:t>)</a:t>
            </a:r>
            <a:r>
              <a:rPr lang="es-ES" sz="2350" b="1">
                <a:solidFill>
                  <a:srgbClr val="336699"/>
                </a:solidFill>
              </a:rPr>
              <a:t>$y;</a:t>
            </a:r>
            <a:endParaRPr sz="2350" b="1">
              <a:solidFill>
                <a:srgbClr val="D4D4D4"/>
              </a:solidFill>
            </a:endParaRPr>
          </a:p>
          <a:p>
            <a:pPr marL="0" lvl="0" indent="0" algn="l" rtl="0">
              <a:lnSpc>
                <a:spcPct val="135714"/>
              </a:lnSpc>
              <a:spcBef>
                <a:spcPts val="0"/>
              </a:spcBef>
              <a:spcAft>
                <a:spcPts val="0"/>
              </a:spcAft>
              <a:buNone/>
            </a:pPr>
            <a:r>
              <a:rPr lang="es-ES" sz="2350" b="1">
                <a:solidFill>
                  <a:srgbClr val="D4D4D4"/>
                </a:solidFill>
              </a:rPr>
              <a:t> </a:t>
            </a:r>
            <a:r>
              <a:rPr lang="es-ES" sz="2350" b="1">
                <a:solidFill>
                  <a:srgbClr val="FF0000"/>
                </a:solidFill>
              </a:rPr>
              <a:t>echo</a:t>
            </a:r>
            <a:r>
              <a:rPr lang="es-ES" sz="2350" b="1">
                <a:solidFill>
                  <a:srgbClr val="222222"/>
                </a:solidFill>
              </a:rPr>
              <a:t> </a:t>
            </a:r>
            <a:r>
              <a:rPr lang="es-ES" sz="2350" b="1">
                <a:solidFill>
                  <a:srgbClr val="CE9178"/>
                </a:solidFill>
              </a:rPr>
              <a:t>" </a:t>
            </a:r>
            <a:r>
              <a:rPr lang="es-ES" sz="2350" b="1">
                <a:solidFill>
                  <a:srgbClr val="336699"/>
                </a:solidFill>
              </a:rPr>
              <a:t>$z</a:t>
            </a:r>
            <a:r>
              <a:rPr lang="es-ES" sz="2350" b="1">
                <a:solidFill>
                  <a:srgbClr val="CE9178"/>
                </a:solidFill>
              </a:rPr>
              <a:t>"</a:t>
            </a:r>
            <a:endParaRPr sz="2350" b="1">
              <a:solidFill>
                <a:srgbClr val="CE9178"/>
              </a:solidFill>
            </a:endParaRPr>
          </a:p>
          <a:p>
            <a:pPr marL="0" lvl="0" indent="0" algn="l" rtl="0">
              <a:lnSpc>
                <a:spcPct val="100000"/>
              </a:lnSpc>
              <a:spcBef>
                <a:spcPts val="0"/>
              </a:spcBef>
              <a:spcAft>
                <a:spcPts val="0"/>
              </a:spcAft>
              <a:buNone/>
            </a:pPr>
            <a:r>
              <a:rPr lang="es-ES" sz="2350" b="1">
                <a:solidFill>
                  <a:srgbClr val="FF0000"/>
                </a:solidFill>
              </a:rPr>
              <a:t>?&gt;</a:t>
            </a:r>
            <a:endParaRPr sz="2350" b="1">
              <a:solidFill>
                <a:srgbClr val="FF000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body</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html</a:t>
            </a:r>
            <a:r>
              <a:rPr lang="es-ES" sz="1850">
                <a:solidFill>
                  <a:srgbClr val="808080"/>
                </a:solidFill>
              </a:rPr>
              <a:t>&gt;</a:t>
            </a:r>
            <a:endParaRPr sz="1850">
              <a:solidFill>
                <a:srgbClr val="80808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23"/>
        <p:cNvGrpSpPr/>
        <p:nvPr/>
      </p:nvGrpSpPr>
      <p:grpSpPr>
        <a:xfrm>
          <a:off x="0" y="0"/>
          <a:ext cx="0" cy="0"/>
          <a:chOff x="0" y="0"/>
          <a:chExt cx="0" cy="0"/>
        </a:xfrm>
      </p:grpSpPr>
      <p:sp>
        <p:nvSpPr>
          <p:cNvPr id="124" name="Google Shape;124;g25d9532cd90_0_71"/>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25" name="Google Shape;125;g25d9532cd90_0_71"/>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26" name="Google Shape;126;g25d9532cd90_0_71"/>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27" name="Google Shape;127;g25d9532cd90_0_71"/>
          <p:cNvSpPr txBox="1"/>
          <p:nvPr/>
        </p:nvSpPr>
        <p:spPr>
          <a:xfrm>
            <a:off x="310725" y="763325"/>
            <a:ext cx="109449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00000"/>
                </a:solidFill>
                <a:latin typeface="Arial"/>
                <a:ea typeface="Arial"/>
                <a:cs typeface="Arial"/>
                <a:sym typeface="Arial"/>
              </a:rPr>
              <a:t>Crea dos variables, una con un nombre y otra con la edad. </a:t>
            </a:r>
            <a:endParaRPr sz="2800" b="0" i="0" u="none" strike="noStrike" cap="none">
              <a:solidFill>
                <a:srgbClr val="000000"/>
              </a:solidFill>
              <a:latin typeface="Arial"/>
              <a:ea typeface="Arial"/>
              <a:cs typeface="Arial"/>
              <a:sym typeface="Arial"/>
            </a:endParaRPr>
          </a:p>
        </p:txBody>
      </p:sp>
      <p:sp>
        <p:nvSpPr>
          <p:cNvPr id="128" name="Google Shape;128;g25d9532cd90_0_71"/>
          <p:cNvSpPr txBox="1"/>
          <p:nvPr/>
        </p:nvSpPr>
        <p:spPr>
          <a:xfrm>
            <a:off x="128775" y="147725"/>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2.</a:t>
            </a:r>
            <a:r>
              <a:rPr lang="es-ES" sz="2800">
                <a:solidFill>
                  <a:srgbClr val="089908"/>
                </a:solidFill>
              </a:rPr>
              <a:t>2</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(ejercicio2-</a:t>
            </a:r>
            <a:r>
              <a:rPr lang="es-ES" sz="2000">
                <a:solidFill>
                  <a:srgbClr val="089908"/>
                </a:solidFill>
              </a:rPr>
              <a:t>2</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129" name="Google Shape;129;g25d9532cd90_0_71"/>
          <p:cNvSpPr txBox="1"/>
          <p:nvPr/>
        </p:nvSpPr>
        <p:spPr>
          <a:xfrm>
            <a:off x="447850" y="1378925"/>
            <a:ext cx="8232300" cy="4917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1750">
                <a:solidFill>
                  <a:srgbClr val="808080"/>
                </a:solidFill>
                <a:highlight>
                  <a:srgbClr val="1F1F1F"/>
                </a:highlight>
              </a:rPr>
              <a:t>&lt;</a:t>
            </a:r>
            <a:r>
              <a:rPr lang="es-ES" sz="1850">
                <a:solidFill>
                  <a:srgbClr val="569CD6"/>
                </a:solidFill>
              </a:rPr>
              <a:t>html</a:t>
            </a:r>
            <a:r>
              <a:rPr lang="es-ES" sz="1850">
                <a:solidFill>
                  <a:srgbClr val="808080"/>
                </a:solidFill>
              </a:rPr>
              <a:t>&gt;</a:t>
            </a:r>
            <a:endParaRPr sz="1850">
              <a:solidFill>
                <a:srgbClr val="808080"/>
              </a:solidFill>
            </a:endParaRPr>
          </a:p>
          <a:p>
            <a:pPr marL="0" lvl="0" indent="0" algn="l" rtl="0">
              <a:spcBef>
                <a:spcPts val="0"/>
              </a:spcBef>
              <a:spcAft>
                <a:spcPts val="0"/>
              </a:spcAft>
              <a:buNone/>
            </a:pPr>
            <a:r>
              <a:rPr lang="es-ES" sz="1850">
                <a:solidFill>
                  <a:srgbClr val="808080"/>
                </a:solidFill>
              </a:rPr>
              <a:t>&lt;</a:t>
            </a:r>
            <a:r>
              <a:rPr lang="es-ES" sz="1850">
                <a:solidFill>
                  <a:srgbClr val="569CD6"/>
                </a:solidFill>
              </a:rPr>
              <a:t>head</a:t>
            </a:r>
            <a:r>
              <a:rPr lang="es-ES" sz="1850">
                <a:solidFill>
                  <a:srgbClr val="808080"/>
                </a:solidFill>
              </a:rPr>
              <a:t>&gt;</a:t>
            </a:r>
            <a:endParaRPr sz="1850">
              <a:solidFill>
                <a:srgbClr val="808080"/>
              </a:solidFill>
            </a:endParaRPr>
          </a:p>
          <a:p>
            <a:pPr marL="0" lvl="0" indent="0" algn="l" rtl="0">
              <a:spcBef>
                <a:spcPts val="0"/>
              </a:spcBef>
              <a:spcAft>
                <a:spcPts val="0"/>
              </a:spcAft>
              <a:buNone/>
            </a:pPr>
            <a:r>
              <a:rPr lang="es-ES" sz="1850">
                <a:solidFill>
                  <a:srgbClr val="808080"/>
                </a:solidFill>
              </a:rPr>
              <a:t>&lt;</a:t>
            </a:r>
            <a:r>
              <a:rPr lang="es-ES" sz="1850">
                <a:solidFill>
                  <a:srgbClr val="569CD6"/>
                </a:solidFill>
              </a:rPr>
              <a:t>title</a:t>
            </a:r>
            <a:r>
              <a:rPr lang="es-ES" sz="1850">
                <a:solidFill>
                  <a:srgbClr val="808080"/>
                </a:solidFill>
              </a:rPr>
              <a:t>&gt;</a:t>
            </a:r>
            <a:r>
              <a:rPr lang="es-ES" sz="1850">
                <a:solidFill>
                  <a:srgbClr val="B45F06"/>
                </a:solidFill>
              </a:rPr>
              <a:t>Mi 2ª ejercicio con variables en PHP</a:t>
            </a:r>
            <a:r>
              <a:rPr lang="es-ES" sz="1850">
                <a:solidFill>
                  <a:srgbClr val="808080"/>
                </a:solidFill>
              </a:rPr>
              <a:t>&lt;/</a:t>
            </a:r>
            <a:r>
              <a:rPr lang="es-ES" sz="1850">
                <a:solidFill>
                  <a:srgbClr val="569CD6"/>
                </a:solidFill>
              </a:rPr>
              <a:t>title</a:t>
            </a:r>
            <a:r>
              <a:rPr lang="es-ES" sz="1850">
                <a:solidFill>
                  <a:srgbClr val="808080"/>
                </a:solidFill>
              </a:rPr>
              <a:t>&gt;</a:t>
            </a:r>
            <a:endParaRPr sz="1850">
              <a:solidFill>
                <a:srgbClr val="808080"/>
              </a:solidFill>
            </a:endParaRPr>
          </a:p>
          <a:p>
            <a:pPr marL="0" lvl="0" indent="0" algn="l" rtl="0">
              <a:spcBef>
                <a:spcPts val="0"/>
              </a:spcBef>
              <a:spcAft>
                <a:spcPts val="0"/>
              </a:spcAft>
              <a:buNone/>
            </a:pPr>
            <a:r>
              <a:rPr lang="es-ES" sz="1850">
                <a:solidFill>
                  <a:srgbClr val="808080"/>
                </a:solidFill>
              </a:rPr>
              <a:t>&lt;/</a:t>
            </a:r>
            <a:r>
              <a:rPr lang="es-ES" sz="1850">
                <a:solidFill>
                  <a:srgbClr val="569CD6"/>
                </a:solidFill>
              </a:rPr>
              <a:t>head</a:t>
            </a:r>
            <a:r>
              <a:rPr lang="es-ES" sz="1850">
                <a:solidFill>
                  <a:srgbClr val="808080"/>
                </a:solidFill>
              </a:rPr>
              <a:t>&gt;</a:t>
            </a:r>
            <a:endParaRPr sz="1850">
              <a:solidFill>
                <a:srgbClr val="808080"/>
              </a:solidFill>
            </a:endParaRPr>
          </a:p>
          <a:p>
            <a:pPr marL="0" lvl="0" indent="0" algn="l" rtl="0">
              <a:spcBef>
                <a:spcPts val="0"/>
              </a:spcBef>
              <a:spcAft>
                <a:spcPts val="0"/>
              </a:spcAft>
              <a:buNone/>
            </a:pPr>
            <a:r>
              <a:rPr lang="es-ES" sz="1850">
                <a:solidFill>
                  <a:srgbClr val="808080"/>
                </a:solidFill>
              </a:rPr>
              <a:t>&lt;</a:t>
            </a:r>
            <a:r>
              <a:rPr lang="es-ES" sz="1850">
                <a:solidFill>
                  <a:srgbClr val="569CD6"/>
                </a:solidFill>
              </a:rPr>
              <a:t>body</a:t>
            </a:r>
            <a:r>
              <a:rPr lang="es-ES" sz="1850">
                <a:solidFill>
                  <a:srgbClr val="808080"/>
                </a:solidFill>
              </a:rPr>
              <a:t>&gt;</a:t>
            </a:r>
            <a:endParaRPr sz="1850">
              <a:solidFill>
                <a:srgbClr val="808080"/>
              </a:solidFill>
            </a:endParaRPr>
          </a:p>
          <a:p>
            <a:pPr marL="0" lvl="0" indent="0" algn="l" rtl="0">
              <a:spcBef>
                <a:spcPts val="0"/>
              </a:spcBef>
              <a:spcAft>
                <a:spcPts val="0"/>
              </a:spcAft>
              <a:buNone/>
            </a:pPr>
            <a:r>
              <a:rPr lang="es-ES" sz="1850">
                <a:solidFill>
                  <a:srgbClr val="CCCCCC"/>
                </a:solidFill>
              </a:rPr>
              <a:t>    </a:t>
            </a:r>
            <a:r>
              <a:rPr lang="es-ES" sz="1850">
                <a:solidFill>
                  <a:srgbClr val="808080"/>
                </a:solidFill>
              </a:rPr>
              <a:t>&lt;</a:t>
            </a:r>
            <a:r>
              <a:rPr lang="es-ES" sz="1850">
                <a:solidFill>
                  <a:srgbClr val="569CD6"/>
                </a:solidFill>
              </a:rPr>
              <a:t>h1</a:t>
            </a:r>
            <a:r>
              <a:rPr lang="es-ES" sz="1850">
                <a:solidFill>
                  <a:srgbClr val="808080"/>
                </a:solidFill>
              </a:rPr>
              <a:t>&gt;</a:t>
            </a:r>
            <a:r>
              <a:rPr lang="es-ES" sz="1850">
                <a:solidFill>
                  <a:srgbClr val="A61C00"/>
                </a:solidFill>
              </a:rPr>
              <a:t>Nombre y Edad</a:t>
            </a:r>
            <a:r>
              <a:rPr lang="es-ES" sz="1850">
                <a:solidFill>
                  <a:srgbClr val="CCCCCC"/>
                </a:solidFill>
              </a:rPr>
              <a:t> </a:t>
            </a:r>
            <a:r>
              <a:rPr lang="es-ES" sz="1850">
                <a:solidFill>
                  <a:srgbClr val="808080"/>
                </a:solidFill>
              </a:rPr>
              <a:t>&lt;/</a:t>
            </a:r>
            <a:r>
              <a:rPr lang="es-ES" sz="1850">
                <a:solidFill>
                  <a:srgbClr val="569CD6"/>
                </a:solidFill>
              </a:rPr>
              <a:t>h1</a:t>
            </a:r>
            <a:r>
              <a:rPr lang="es-ES" sz="1850">
                <a:solidFill>
                  <a:srgbClr val="808080"/>
                </a:solidFill>
              </a:rPr>
              <a:t>&gt;</a:t>
            </a:r>
            <a:endParaRPr sz="1050">
              <a:solidFill>
                <a:srgbClr val="808080"/>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ES" sz="2350">
                <a:solidFill>
                  <a:srgbClr val="FF0000"/>
                </a:solidFill>
              </a:rPr>
              <a:t>&lt;?php</a:t>
            </a:r>
            <a:endParaRPr sz="2350">
              <a:solidFill>
                <a:srgbClr val="FF0000"/>
              </a:solidFill>
            </a:endParaRPr>
          </a:p>
          <a:p>
            <a:pPr marL="0" lvl="0" indent="0" algn="l" rtl="0">
              <a:lnSpc>
                <a:spcPct val="135714"/>
              </a:lnSpc>
              <a:spcBef>
                <a:spcPts val="0"/>
              </a:spcBef>
              <a:spcAft>
                <a:spcPts val="0"/>
              </a:spcAft>
              <a:buNone/>
            </a:pPr>
            <a:r>
              <a:rPr lang="es-ES" sz="2350">
                <a:solidFill>
                  <a:srgbClr val="D4D4D4"/>
                </a:solidFill>
              </a:rPr>
              <a:t> </a:t>
            </a:r>
            <a:r>
              <a:rPr lang="es-ES" sz="2350" b="1">
                <a:solidFill>
                  <a:srgbClr val="336699"/>
                </a:solidFill>
              </a:rPr>
              <a:t>   $x</a:t>
            </a:r>
            <a:r>
              <a:rPr lang="es-ES" sz="2350">
                <a:solidFill>
                  <a:srgbClr val="222222"/>
                </a:solidFill>
              </a:rPr>
              <a:t>=”Ibai”;</a:t>
            </a:r>
            <a:endParaRPr sz="1050">
              <a:solidFill>
                <a:srgbClr val="D4D4D4"/>
              </a:solidFill>
              <a:highlight>
                <a:srgbClr val="1F1F1F"/>
              </a:highlight>
              <a:latin typeface="Courier New"/>
              <a:ea typeface="Courier New"/>
              <a:cs typeface="Courier New"/>
              <a:sym typeface="Courier New"/>
            </a:endParaRPr>
          </a:p>
          <a:p>
            <a:pPr marL="0" lvl="0" indent="457200" algn="l" rtl="0">
              <a:lnSpc>
                <a:spcPct val="135714"/>
              </a:lnSpc>
              <a:spcBef>
                <a:spcPts val="0"/>
              </a:spcBef>
              <a:spcAft>
                <a:spcPts val="0"/>
              </a:spcAft>
              <a:buNone/>
            </a:pPr>
            <a:r>
              <a:rPr lang="es-ES" sz="2350" b="1">
                <a:solidFill>
                  <a:srgbClr val="336699"/>
                </a:solidFill>
              </a:rPr>
              <a:t>$y</a:t>
            </a:r>
            <a:r>
              <a:rPr lang="es-ES" sz="2350">
                <a:solidFill>
                  <a:srgbClr val="222222"/>
                </a:solidFill>
              </a:rPr>
              <a:t>=20;</a:t>
            </a:r>
            <a:endParaRPr sz="1050">
              <a:solidFill>
                <a:srgbClr val="D4D4D4"/>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ES" sz="2350" b="1">
                <a:solidFill>
                  <a:srgbClr val="FF0000"/>
                </a:solidFill>
              </a:rPr>
              <a:t>echo </a:t>
            </a:r>
            <a:r>
              <a:rPr lang="es-ES" sz="2350" b="1">
                <a:solidFill>
                  <a:schemeClr val="dk1"/>
                </a:solidFill>
              </a:rPr>
              <a:t>"</a:t>
            </a:r>
            <a:r>
              <a:rPr lang="es-ES" sz="2350">
                <a:solidFill>
                  <a:srgbClr val="741B47"/>
                </a:solidFill>
              </a:rPr>
              <a:t>&lt;h2&gt; Hola, soy</a:t>
            </a:r>
            <a:r>
              <a:rPr lang="es-ES" sz="2350" b="1">
                <a:solidFill>
                  <a:schemeClr val="dk1"/>
                </a:solidFill>
              </a:rPr>
              <a:t>" . </a:t>
            </a:r>
            <a:r>
              <a:rPr lang="es-ES" sz="2350" b="1">
                <a:solidFill>
                  <a:srgbClr val="336699"/>
                </a:solidFill>
              </a:rPr>
              <a:t>$x </a:t>
            </a:r>
            <a:r>
              <a:rPr lang="es-ES" sz="2350" b="1">
                <a:solidFill>
                  <a:schemeClr val="dk1"/>
                </a:solidFill>
              </a:rPr>
              <a:t>. " </a:t>
            </a:r>
            <a:r>
              <a:rPr lang="es-ES" sz="2350">
                <a:solidFill>
                  <a:srgbClr val="741B47"/>
                </a:solidFill>
              </a:rPr>
              <a:t>y tengo</a:t>
            </a:r>
            <a:r>
              <a:rPr lang="es-ES" sz="2350" b="1">
                <a:solidFill>
                  <a:schemeClr val="dk1"/>
                </a:solidFill>
              </a:rPr>
              <a:t> " . </a:t>
            </a:r>
            <a:r>
              <a:rPr lang="es-ES" sz="2350" b="1">
                <a:solidFill>
                  <a:srgbClr val="336699"/>
                </a:solidFill>
              </a:rPr>
              <a:t>$y </a:t>
            </a:r>
            <a:r>
              <a:rPr lang="es-ES" sz="2350" b="1">
                <a:solidFill>
                  <a:schemeClr val="dk1"/>
                </a:solidFill>
              </a:rPr>
              <a:t>. "</a:t>
            </a:r>
            <a:r>
              <a:rPr lang="es-ES" sz="2350">
                <a:solidFill>
                  <a:srgbClr val="741B47"/>
                </a:solidFill>
              </a:rPr>
              <a:t>años</a:t>
            </a:r>
            <a:r>
              <a:rPr lang="es-ES" sz="2350" b="1">
                <a:solidFill>
                  <a:schemeClr val="dk1"/>
                </a:solidFill>
              </a:rPr>
              <a:t>";</a:t>
            </a:r>
            <a:endParaRPr sz="1050">
              <a:solidFill>
                <a:srgbClr val="D4D4D4"/>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ES" sz="2350" b="1">
                <a:solidFill>
                  <a:srgbClr val="FF0000"/>
                </a:solidFill>
              </a:rPr>
              <a:t>?&gt;</a:t>
            </a:r>
            <a:endParaRPr sz="2350" b="1">
              <a:solidFill>
                <a:srgbClr val="FF0000"/>
              </a:solidFill>
            </a:endParaRPr>
          </a:p>
          <a:p>
            <a:pPr marL="0" lvl="0" indent="0" algn="l" rtl="0">
              <a:spcBef>
                <a:spcPts val="0"/>
              </a:spcBef>
              <a:spcAft>
                <a:spcPts val="0"/>
              </a:spcAft>
              <a:buNone/>
            </a:pPr>
            <a:r>
              <a:rPr lang="es-ES" sz="1850">
                <a:solidFill>
                  <a:srgbClr val="808080"/>
                </a:solidFill>
              </a:rPr>
              <a:t>&lt;/</a:t>
            </a:r>
            <a:r>
              <a:rPr lang="es-ES" sz="1850">
                <a:solidFill>
                  <a:srgbClr val="569CD6"/>
                </a:solidFill>
              </a:rPr>
              <a:t>body</a:t>
            </a:r>
            <a:r>
              <a:rPr lang="es-ES" sz="1850">
                <a:solidFill>
                  <a:srgbClr val="808080"/>
                </a:solidFill>
              </a:rPr>
              <a:t>&gt;</a:t>
            </a:r>
            <a:endParaRPr sz="1850">
              <a:solidFill>
                <a:srgbClr val="808080"/>
              </a:solidFill>
            </a:endParaRPr>
          </a:p>
          <a:p>
            <a:pPr marL="0" lvl="0" indent="0" algn="l" rtl="0">
              <a:spcBef>
                <a:spcPts val="0"/>
              </a:spcBef>
              <a:spcAft>
                <a:spcPts val="0"/>
              </a:spcAft>
              <a:buNone/>
            </a:pPr>
            <a:r>
              <a:rPr lang="es-ES" sz="1850">
                <a:solidFill>
                  <a:srgbClr val="808080"/>
                </a:solidFill>
              </a:rPr>
              <a:t>&lt;/</a:t>
            </a:r>
            <a:r>
              <a:rPr lang="es-ES" sz="1850">
                <a:solidFill>
                  <a:srgbClr val="569CD6"/>
                </a:solidFill>
              </a:rPr>
              <a:t>html</a:t>
            </a:r>
            <a:r>
              <a:rPr lang="es-ES" sz="1850">
                <a:solidFill>
                  <a:srgbClr val="808080"/>
                </a:solidFill>
              </a:rPr>
              <a:t>&gt;</a:t>
            </a:r>
            <a:endParaRPr sz="1050">
              <a:solidFill>
                <a:srgbClr val="808080"/>
              </a:solidFill>
              <a:highlight>
                <a:srgbClr val="1F1F1F"/>
              </a:highlight>
              <a:latin typeface="Courier New"/>
              <a:ea typeface="Courier New"/>
              <a:cs typeface="Courier New"/>
              <a:sym typeface="Courier New"/>
            </a:endParaRPr>
          </a:p>
        </p:txBody>
      </p:sp>
      <p:pic>
        <p:nvPicPr>
          <p:cNvPr id="130" name="Google Shape;130;g25d9532cd90_0_71"/>
          <p:cNvPicPr preferRelativeResize="0"/>
          <p:nvPr/>
        </p:nvPicPr>
        <p:blipFill>
          <a:blip r:embed="rId4">
            <a:alphaModFix/>
          </a:blip>
          <a:stretch>
            <a:fillRect/>
          </a:stretch>
        </p:blipFill>
        <p:spPr>
          <a:xfrm>
            <a:off x="6251738" y="2086063"/>
            <a:ext cx="4810125" cy="962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34"/>
        <p:cNvGrpSpPr/>
        <p:nvPr/>
      </p:nvGrpSpPr>
      <p:grpSpPr>
        <a:xfrm>
          <a:off x="0" y="0"/>
          <a:ext cx="0" cy="0"/>
          <a:chOff x="0" y="0"/>
          <a:chExt cx="0" cy="0"/>
        </a:xfrm>
      </p:grpSpPr>
      <p:sp>
        <p:nvSpPr>
          <p:cNvPr id="135" name="Google Shape;135;g2a43e12f40f_0_0"/>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36" name="Google Shape;136;g2a43e12f40f_0_0"/>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37" name="Google Shape;137;g2a43e12f40f_0_0"/>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38" name="Google Shape;138;g2a43e12f40f_0_0"/>
          <p:cNvSpPr txBox="1"/>
          <p:nvPr/>
        </p:nvSpPr>
        <p:spPr>
          <a:xfrm>
            <a:off x="352700" y="147725"/>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2.1b</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2-1b</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139" name="Google Shape;139;g2a43e12f40f_0_0"/>
          <p:cNvSpPr txBox="1"/>
          <p:nvPr/>
        </p:nvSpPr>
        <p:spPr>
          <a:xfrm>
            <a:off x="1007700" y="859350"/>
            <a:ext cx="5561100" cy="6159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html</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head</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title</a:t>
            </a:r>
            <a:r>
              <a:rPr lang="es-ES" sz="1850">
                <a:solidFill>
                  <a:srgbClr val="808080"/>
                </a:solidFill>
              </a:rPr>
              <a:t>&gt;</a:t>
            </a:r>
            <a:r>
              <a:rPr lang="es-ES" sz="1850">
                <a:solidFill>
                  <a:srgbClr val="B45F06"/>
                </a:solidFill>
              </a:rPr>
              <a:t>Mi primer ejercicio en PHP</a:t>
            </a:r>
            <a:r>
              <a:rPr lang="es-ES" sz="1850">
                <a:solidFill>
                  <a:srgbClr val="808080"/>
                </a:solidFill>
              </a:rPr>
              <a:t>&lt;/</a:t>
            </a:r>
            <a:r>
              <a:rPr lang="es-ES" sz="1850">
                <a:solidFill>
                  <a:srgbClr val="569CD6"/>
                </a:solidFill>
              </a:rPr>
              <a:t>title</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head</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808080"/>
                </a:solidFill>
              </a:rPr>
              <a:t>&lt;</a:t>
            </a:r>
            <a:r>
              <a:rPr lang="es-ES" sz="1850">
                <a:solidFill>
                  <a:srgbClr val="569CD6"/>
                </a:solidFill>
              </a:rPr>
              <a:t>body</a:t>
            </a:r>
            <a:r>
              <a:rPr lang="es-ES" sz="1850">
                <a:solidFill>
                  <a:srgbClr val="808080"/>
                </a:solidFill>
              </a:rPr>
              <a:t>&gt;</a:t>
            </a:r>
            <a:endParaRPr sz="1850">
              <a:solidFill>
                <a:srgbClr val="808080"/>
              </a:solidFill>
            </a:endParaRPr>
          </a:p>
          <a:p>
            <a:pPr marL="0" lvl="0" indent="0" algn="l" rtl="0">
              <a:lnSpc>
                <a:spcPct val="100000"/>
              </a:lnSpc>
              <a:spcBef>
                <a:spcPts val="0"/>
              </a:spcBef>
              <a:spcAft>
                <a:spcPts val="0"/>
              </a:spcAft>
              <a:buNone/>
            </a:pPr>
            <a:r>
              <a:rPr lang="es-ES" sz="1850">
                <a:solidFill>
                  <a:srgbClr val="CCCCCC"/>
                </a:solidFill>
              </a:rPr>
              <a:t>    </a:t>
            </a:r>
            <a:r>
              <a:rPr lang="es-ES" sz="1850">
                <a:solidFill>
                  <a:srgbClr val="808080"/>
                </a:solidFill>
              </a:rPr>
              <a:t>&lt;</a:t>
            </a:r>
            <a:r>
              <a:rPr lang="es-ES" sz="1850">
                <a:solidFill>
                  <a:srgbClr val="569CD6"/>
                </a:solidFill>
              </a:rPr>
              <a:t>h1</a:t>
            </a:r>
            <a:r>
              <a:rPr lang="es-ES" sz="1850">
                <a:solidFill>
                  <a:srgbClr val="808080"/>
                </a:solidFill>
              </a:rPr>
              <a:t>&gt;</a:t>
            </a:r>
            <a:r>
              <a:rPr lang="es-ES" sz="1850">
                <a:solidFill>
                  <a:srgbClr val="A61C00"/>
                </a:solidFill>
              </a:rPr>
              <a:t>Mi primer  ejemplo</a:t>
            </a:r>
            <a:r>
              <a:rPr lang="es-ES" sz="1850">
                <a:solidFill>
                  <a:srgbClr val="CCCCCC"/>
                </a:solidFill>
              </a:rPr>
              <a:t> </a:t>
            </a:r>
            <a:r>
              <a:rPr lang="es-ES" sz="1850">
                <a:solidFill>
                  <a:srgbClr val="A61C00"/>
                </a:solidFill>
              </a:rPr>
              <a:t>con variables </a:t>
            </a:r>
            <a:r>
              <a:rPr lang="es-ES" sz="1850">
                <a:solidFill>
                  <a:srgbClr val="808080"/>
                </a:solidFill>
              </a:rPr>
              <a:t>&lt;/</a:t>
            </a:r>
            <a:r>
              <a:rPr lang="es-ES" sz="1850">
                <a:solidFill>
                  <a:srgbClr val="569CD6"/>
                </a:solidFill>
              </a:rPr>
              <a:t>h1</a:t>
            </a:r>
            <a:r>
              <a:rPr lang="es-ES" sz="1850">
                <a:solidFill>
                  <a:srgbClr val="808080"/>
                </a:solidFill>
              </a:rPr>
              <a:t>&gt;</a:t>
            </a:r>
            <a:endParaRPr sz="1850">
              <a:solidFill>
                <a:srgbClr val="808080"/>
              </a:solidFill>
            </a:endParaRPr>
          </a:p>
          <a:p>
            <a:pPr marL="0" lvl="0" indent="0" algn="l" rtl="0">
              <a:lnSpc>
                <a:spcPct val="135714"/>
              </a:lnSpc>
              <a:spcBef>
                <a:spcPts val="0"/>
              </a:spcBef>
              <a:spcAft>
                <a:spcPts val="0"/>
              </a:spcAft>
              <a:buNone/>
            </a:pPr>
            <a:r>
              <a:rPr lang="es-ES" sz="2050">
                <a:solidFill>
                  <a:srgbClr val="FF0000"/>
                </a:solidFill>
              </a:rPr>
              <a:t>&lt;?php</a:t>
            </a:r>
            <a:endParaRPr sz="2050">
              <a:solidFill>
                <a:srgbClr val="FF0000"/>
              </a:solidFill>
            </a:endParaRPr>
          </a:p>
          <a:p>
            <a:pPr marL="0" lvl="0" indent="0" algn="l" rtl="0">
              <a:lnSpc>
                <a:spcPct val="135714"/>
              </a:lnSpc>
              <a:spcBef>
                <a:spcPts val="0"/>
              </a:spcBef>
              <a:spcAft>
                <a:spcPts val="0"/>
              </a:spcAft>
              <a:buNone/>
            </a:pPr>
            <a:r>
              <a:rPr lang="es-ES" sz="2050">
                <a:solidFill>
                  <a:srgbClr val="D4D4D4"/>
                </a:solidFill>
              </a:rPr>
              <a:t> </a:t>
            </a:r>
            <a:r>
              <a:rPr lang="es-ES" sz="2050" b="1">
                <a:solidFill>
                  <a:srgbClr val="336699"/>
                </a:solidFill>
              </a:rPr>
              <a:t>   $x</a:t>
            </a:r>
            <a:r>
              <a:rPr lang="es-ES" sz="2050">
                <a:solidFill>
                  <a:srgbClr val="222222"/>
                </a:solidFill>
              </a:rPr>
              <a:t>=2;</a:t>
            </a:r>
            <a:endParaRPr sz="2050">
              <a:solidFill>
                <a:srgbClr val="222222"/>
              </a:solidFill>
            </a:endParaRPr>
          </a:p>
          <a:p>
            <a:pPr marL="0" lvl="0" indent="0" algn="l" rtl="0">
              <a:lnSpc>
                <a:spcPct val="135714"/>
              </a:lnSpc>
              <a:spcBef>
                <a:spcPts val="0"/>
              </a:spcBef>
              <a:spcAft>
                <a:spcPts val="0"/>
              </a:spcAft>
              <a:buClr>
                <a:schemeClr val="dk1"/>
              </a:buClr>
              <a:buSzPts val="1100"/>
              <a:buFont typeface="Arial"/>
              <a:buNone/>
            </a:pPr>
            <a:r>
              <a:rPr lang="es-ES" sz="2050" b="1">
                <a:solidFill>
                  <a:srgbClr val="336699"/>
                </a:solidFill>
              </a:rPr>
              <a:t>    function</a:t>
            </a:r>
            <a:r>
              <a:rPr lang="es-ES" sz="2050">
                <a:solidFill>
                  <a:srgbClr val="222222"/>
                </a:solidFill>
              </a:rPr>
              <a:t> prueba(){</a:t>
            </a:r>
            <a:endParaRPr sz="2050">
              <a:solidFill>
                <a:srgbClr val="222222"/>
              </a:solidFill>
            </a:endParaRPr>
          </a:p>
          <a:p>
            <a:pPr marL="0" lvl="0" indent="0" algn="l" rtl="0">
              <a:lnSpc>
                <a:spcPct val="135714"/>
              </a:lnSpc>
              <a:spcBef>
                <a:spcPts val="0"/>
              </a:spcBef>
              <a:spcAft>
                <a:spcPts val="0"/>
              </a:spcAft>
              <a:buClr>
                <a:schemeClr val="dk1"/>
              </a:buClr>
              <a:buSzPts val="1100"/>
              <a:buFont typeface="Arial"/>
              <a:buNone/>
            </a:pPr>
            <a:r>
              <a:rPr lang="es-ES" sz="2050" b="1">
                <a:solidFill>
                  <a:srgbClr val="336699"/>
                </a:solidFill>
              </a:rPr>
              <a:t>       static</a:t>
            </a:r>
            <a:r>
              <a:rPr lang="es-ES" sz="2050">
                <a:solidFill>
                  <a:srgbClr val="222222"/>
                </a:solidFill>
              </a:rPr>
              <a:t> $x;</a:t>
            </a:r>
            <a:endParaRPr sz="2050">
              <a:solidFill>
                <a:srgbClr val="222222"/>
              </a:solidFill>
            </a:endParaRPr>
          </a:p>
          <a:p>
            <a:pPr marL="0" lvl="0" indent="0" algn="l" rtl="0">
              <a:lnSpc>
                <a:spcPct val="135714"/>
              </a:lnSpc>
              <a:spcBef>
                <a:spcPts val="0"/>
              </a:spcBef>
              <a:spcAft>
                <a:spcPts val="0"/>
              </a:spcAft>
              <a:buNone/>
            </a:pPr>
            <a:r>
              <a:rPr lang="es-ES" sz="2050" b="1">
                <a:solidFill>
                  <a:srgbClr val="336699"/>
                </a:solidFill>
              </a:rPr>
              <a:t>        $y</a:t>
            </a:r>
            <a:r>
              <a:rPr lang="es-ES" sz="2050">
                <a:solidFill>
                  <a:srgbClr val="222222"/>
                </a:solidFill>
              </a:rPr>
              <a:t>=3.4;</a:t>
            </a:r>
            <a:endParaRPr sz="2050">
              <a:solidFill>
                <a:srgbClr val="222222"/>
              </a:solidFill>
            </a:endParaRPr>
          </a:p>
          <a:p>
            <a:pPr marL="0" lvl="0" indent="0" algn="l" rtl="0">
              <a:lnSpc>
                <a:spcPct val="135714"/>
              </a:lnSpc>
              <a:spcBef>
                <a:spcPts val="0"/>
              </a:spcBef>
              <a:spcAft>
                <a:spcPts val="0"/>
              </a:spcAft>
              <a:buNone/>
            </a:pPr>
            <a:r>
              <a:rPr lang="es-ES" sz="2350">
                <a:solidFill>
                  <a:srgbClr val="222222"/>
                </a:solidFill>
              </a:rPr>
              <a:t>        </a:t>
            </a:r>
            <a:r>
              <a:rPr lang="es-ES" sz="2250" b="1">
                <a:solidFill>
                  <a:srgbClr val="336699"/>
                </a:solidFill>
              </a:rPr>
              <a:t>global</a:t>
            </a:r>
            <a:r>
              <a:rPr lang="es-ES" sz="2250">
                <a:solidFill>
                  <a:srgbClr val="222222"/>
                </a:solidFill>
              </a:rPr>
              <a:t> </a:t>
            </a:r>
            <a:r>
              <a:rPr lang="es-ES" sz="2250" b="1">
                <a:solidFill>
                  <a:srgbClr val="336699"/>
                </a:solidFill>
              </a:rPr>
              <a:t>$z</a:t>
            </a:r>
            <a:r>
              <a:rPr lang="es-ES" sz="2250">
                <a:solidFill>
                  <a:srgbClr val="222222"/>
                </a:solidFill>
              </a:rPr>
              <a:t>;/</a:t>
            </a:r>
            <a:r>
              <a:rPr lang="es-ES" sz="2350">
                <a:solidFill>
                  <a:srgbClr val="222222"/>
                </a:solidFill>
              </a:rPr>
              <a:t>/</a:t>
            </a:r>
            <a:endParaRPr sz="1350">
              <a:solidFill>
                <a:srgbClr val="222222"/>
              </a:solidFill>
            </a:endParaRPr>
          </a:p>
          <a:p>
            <a:pPr marL="0" lvl="0" indent="0" algn="l" rtl="0">
              <a:lnSpc>
                <a:spcPct val="135714"/>
              </a:lnSpc>
              <a:spcBef>
                <a:spcPts val="0"/>
              </a:spcBef>
              <a:spcAft>
                <a:spcPts val="0"/>
              </a:spcAft>
              <a:buNone/>
            </a:pPr>
            <a:r>
              <a:rPr lang="es-ES" sz="2350">
                <a:solidFill>
                  <a:srgbClr val="D4D4D4"/>
                </a:solidFill>
              </a:rPr>
              <a:t> 	  </a:t>
            </a:r>
            <a:r>
              <a:rPr lang="es-ES" sz="2000" b="1">
                <a:solidFill>
                  <a:srgbClr val="FF0000"/>
                </a:solidFill>
              </a:rPr>
              <a:t>echo </a:t>
            </a:r>
            <a:r>
              <a:rPr lang="es-ES" sz="2000" b="1">
                <a:solidFill>
                  <a:schemeClr val="dk1"/>
                </a:solidFill>
              </a:rPr>
              <a:t>"&lt;h2&gt;La suma de x + y es ";</a:t>
            </a:r>
            <a:endParaRPr sz="2000" b="1">
              <a:solidFill>
                <a:schemeClr val="dk1"/>
              </a:solidFill>
            </a:endParaRPr>
          </a:p>
          <a:p>
            <a:pPr marL="0" lvl="0" indent="0" algn="l" rtl="0">
              <a:lnSpc>
                <a:spcPct val="135714"/>
              </a:lnSpc>
              <a:spcBef>
                <a:spcPts val="0"/>
              </a:spcBef>
              <a:spcAft>
                <a:spcPts val="0"/>
              </a:spcAft>
              <a:buNone/>
            </a:pPr>
            <a:r>
              <a:rPr lang="es-ES" sz="2000" b="1">
                <a:solidFill>
                  <a:srgbClr val="D4D4D4"/>
                </a:solidFill>
              </a:rPr>
              <a:t>   </a:t>
            </a:r>
            <a:r>
              <a:rPr lang="es-ES" sz="2000" b="1">
                <a:solidFill>
                  <a:srgbClr val="336699"/>
                </a:solidFill>
              </a:rPr>
              <a:t>    $z</a:t>
            </a:r>
            <a:r>
              <a:rPr lang="es-ES" sz="2000" b="1">
                <a:solidFill>
                  <a:srgbClr val="222222"/>
                </a:solidFill>
              </a:rPr>
              <a:t>=</a:t>
            </a:r>
            <a:r>
              <a:rPr lang="es-ES" sz="2000" b="1">
                <a:solidFill>
                  <a:srgbClr val="336699"/>
                </a:solidFill>
              </a:rPr>
              <a:t>$x</a:t>
            </a:r>
            <a:r>
              <a:rPr lang="es-ES" sz="2000" b="1">
                <a:solidFill>
                  <a:srgbClr val="222222"/>
                </a:solidFill>
              </a:rPr>
              <a:t>+</a:t>
            </a:r>
            <a:r>
              <a:rPr lang="es-ES" sz="2000" b="1">
                <a:solidFill>
                  <a:srgbClr val="336699"/>
                </a:solidFill>
              </a:rPr>
              <a:t>$y;</a:t>
            </a:r>
            <a:endParaRPr sz="2000" b="1">
              <a:solidFill>
                <a:srgbClr val="336699"/>
              </a:solidFill>
            </a:endParaRPr>
          </a:p>
          <a:p>
            <a:pPr marL="0" lvl="0" indent="0" algn="l" rtl="0">
              <a:lnSpc>
                <a:spcPct val="135714"/>
              </a:lnSpc>
              <a:spcBef>
                <a:spcPts val="0"/>
              </a:spcBef>
              <a:spcAft>
                <a:spcPts val="0"/>
              </a:spcAft>
              <a:buNone/>
            </a:pPr>
            <a:r>
              <a:rPr lang="es-ES" sz="2000" b="1">
                <a:solidFill>
                  <a:srgbClr val="336699"/>
                </a:solidFill>
              </a:rPr>
              <a:t>       $x++;</a:t>
            </a:r>
            <a:endParaRPr sz="2000" b="1">
              <a:solidFill>
                <a:srgbClr val="336699"/>
              </a:solidFill>
            </a:endParaRPr>
          </a:p>
          <a:p>
            <a:pPr marL="0" lvl="0" indent="0" algn="l" rtl="0">
              <a:lnSpc>
                <a:spcPct val="135714"/>
              </a:lnSpc>
              <a:spcBef>
                <a:spcPts val="0"/>
              </a:spcBef>
              <a:spcAft>
                <a:spcPts val="0"/>
              </a:spcAft>
              <a:buNone/>
            </a:pPr>
            <a:r>
              <a:rPr lang="es-ES" sz="2000" b="1">
                <a:solidFill>
                  <a:srgbClr val="336699"/>
                </a:solidFill>
              </a:rPr>
              <a:t>}</a:t>
            </a:r>
            <a:endParaRPr sz="2000">
              <a:solidFill>
                <a:srgbClr val="808080"/>
              </a:solidFill>
            </a:endParaRPr>
          </a:p>
        </p:txBody>
      </p:sp>
      <p:sp>
        <p:nvSpPr>
          <p:cNvPr id="140" name="Google Shape;140;g2a43e12f40f_0_0"/>
          <p:cNvSpPr txBox="1"/>
          <p:nvPr/>
        </p:nvSpPr>
        <p:spPr>
          <a:xfrm>
            <a:off x="7461500" y="907350"/>
            <a:ext cx="3198600" cy="5043300"/>
          </a:xfrm>
          <a:prstGeom prst="rect">
            <a:avLst/>
          </a:prstGeom>
          <a:noFill/>
          <a:ln>
            <a:noFill/>
          </a:ln>
        </p:spPr>
        <p:txBody>
          <a:bodyPr spcFirstLastPara="1" wrap="square" lIns="91425" tIns="91425" rIns="91425" bIns="91425" anchor="t" anchorCtr="0">
            <a:spAutoFit/>
          </a:bodyPr>
          <a:lstStyle/>
          <a:p>
            <a:pPr marL="0" marR="0" lvl="0" indent="0" algn="l" rtl="0">
              <a:lnSpc>
                <a:spcPct val="135714"/>
              </a:lnSpc>
              <a:spcBef>
                <a:spcPts val="0"/>
              </a:spcBef>
              <a:spcAft>
                <a:spcPts val="0"/>
              </a:spcAft>
              <a:buNone/>
            </a:pPr>
            <a:r>
              <a:rPr lang="es-ES" sz="2350" b="1">
                <a:solidFill>
                  <a:srgbClr val="FF8000"/>
                </a:solidFill>
              </a:rPr>
              <a:t>prueba()</a:t>
            </a:r>
            <a:r>
              <a:rPr lang="es-ES" sz="2350" b="1">
                <a:solidFill>
                  <a:srgbClr val="336699"/>
                </a:solidFill>
              </a:rPr>
              <a:t>;</a:t>
            </a:r>
            <a:endParaRPr sz="2350" b="1">
              <a:solidFill>
                <a:srgbClr val="336699"/>
              </a:solidFill>
            </a:endParaRPr>
          </a:p>
          <a:p>
            <a:pPr marL="0" marR="0" lvl="0" indent="0" algn="l" rtl="0">
              <a:lnSpc>
                <a:spcPct val="135714"/>
              </a:lnSpc>
              <a:spcBef>
                <a:spcPts val="0"/>
              </a:spcBef>
              <a:spcAft>
                <a:spcPts val="0"/>
              </a:spcAft>
              <a:buNone/>
            </a:pPr>
            <a:r>
              <a:rPr lang="es-ES" sz="2350" b="1">
                <a:solidFill>
                  <a:srgbClr val="336699"/>
                </a:solidFill>
              </a:rPr>
              <a:t>echo " $z";</a:t>
            </a:r>
            <a:endParaRPr sz="2350" b="1">
              <a:solidFill>
                <a:srgbClr val="336699"/>
              </a:solidFill>
            </a:endParaRPr>
          </a:p>
          <a:p>
            <a:pPr marL="0" marR="0" lvl="0" indent="0" algn="l" rtl="0">
              <a:lnSpc>
                <a:spcPct val="135714"/>
              </a:lnSpc>
              <a:spcBef>
                <a:spcPts val="0"/>
              </a:spcBef>
              <a:spcAft>
                <a:spcPts val="0"/>
              </a:spcAft>
              <a:buNone/>
            </a:pPr>
            <a:r>
              <a:rPr lang="es-ES" sz="2350" b="1">
                <a:solidFill>
                  <a:srgbClr val="FF8000"/>
                </a:solidFill>
              </a:rPr>
              <a:t>prueba()</a:t>
            </a:r>
            <a:r>
              <a:rPr lang="es-ES" sz="2350" b="1">
                <a:solidFill>
                  <a:srgbClr val="336699"/>
                </a:solidFill>
              </a:rPr>
              <a:t>;</a:t>
            </a:r>
            <a:endParaRPr sz="2350" b="1">
              <a:solidFill>
                <a:srgbClr val="336699"/>
              </a:solidFill>
            </a:endParaRPr>
          </a:p>
          <a:p>
            <a:pPr marL="0" marR="0" lvl="0" indent="0" algn="l" rtl="0">
              <a:lnSpc>
                <a:spcPct val="135714"/>
              </a:lnSpc>
              <a:spcBef>
                <a:spcPts val="0"/>
              </a:spcBef>
              <a:spcAft>
                <a:spcPts val="0"/>
              </a:spcAft>
              <a:buNone/>
            </a:pPr>
            <a:r>
              <a:rPr lang="es-ES" sz="2350" b="1">
                <a:solidFill>
                  <a:srgbClr val="336699"/>
                </a:solidFill>
              </a:rPr>
              <a:t>echo " $z";</a:t>
            </a:r>
            <a:endParaRPr sz="2350" b="1">
              <a:solidFill>
                <a:srgbClr val="336699"/>
              </a:solidFill>
            </a:endParaRPr>
          </a:p>
          <a:p>
            <a:pPr marL="0" marR="0" lvl="0" indent="0" algn="l" rtl="0">
              <a:lnSpc>
                <a:spcPct val="135714"/>
              </a:lnSpc>
              <a:spcBef>
                <a:spcPts val="0"/>
              </a:spcBef>
              <a:spcAft>
                <a:spcPts val="0"/>
              </a:spcAft>
              <a:buNone/>
            </a:pPr>
            <a:r>
              <a:rPr lang="es-ES" sz="2350" b="1">
                <a:solidFill>
                  <a:srgbClr val="FF8000"/>
                </a:solidFill>
              </a:rPr>
              <a:t>prueba()</a:t>
            </a:r>
            <a:r>
              <a:rPr lang="es-ES" sz="2350" b="1">
                <a:solidFill>
                  <a:srgbClr val="336699"/>
                </a:solidFill>
              </a:rPr>
              <a:t>;</a:t>
            </a:r>
            <a:endParaRPr sz="2350" b="1">
              <a:solidFill>
                <a:srgbClr val="336699"/>
              </a:solidFill>
            </a:endParaRPr>
          </a:p>
          <a:p>
            <a:pPr marL="0" marR="0" lvl="0" indent="0" algn="l" rtl="0">
              <a:lnSpc>
                <a:spcPct val="135714"/>
              </a:lnSpc>
              <a:spcBef>
                <a:spcPts val="0"/>
              </a:spcBef>
              <a:spcAft>
                <a:spcPts val="0"/>
              </a:spcAft>
              <a:buNone/>
            </a:pPr>
            <a:r>
              <a:rPr lang="es-ES" sz="2350" b="1">
                <a:solidFill>
                  <a:srgbClr val="336699"/>
                </a:solidFill>
              </a:rPr>
              <a:t>echo " $z";</a:t>
            </a:r>
            <a:endParaRPr sz="1050">
              <a:solidFill>
                <a:srgbClr val="D4D4D4"/>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2350" b="1">
              <a:solidFill>
                <a:srgbClr val="336699"/>
              </a:solidFill>
            </a:endParaRPr>
          </a:p>
          <a:p>
            <a:pPr marL="0" lvl="0" indent="0" algn="l" rtl="0">
              <a:lnSpc>
                <a:spcPct val="135714"/>
              </a:lnSpc>
              <a:spcBef>
                <a:spcPts val="0"/>
              </a:spcBef>
              <a:spcAft>
                <a:spcPts val="0"/>
              </a:spcAft>
              <a:buClr>
                <a:schemeClr val="dk1"/>
              </a:buClr>
              <a:buSzPts val="1100"/>
              <a:buFont typeface="Arial"/>
              <a:buNone/>
            </a:pPr>
            <a:r>
              <a:rPr lang="es-ES" sz="2350" b="1">
                <a:solidFill>
                  <a:srgbClr val="D4D4D4"/>
                </a:solidFill>
              </a:rPr>
              <a:t> </a:t>
            </a:r>
            <a:r>
              <a:rPr lang="es-ES" sz="2350" b="1">
                <a:solidFill>
                  <a:srgbClr val="FF0000"/>
                </a:solidFill>
              </a:rPr>
              <a:t>echo</a:t>
            </a:r>
            <a:r>
              <a:rPr lang="es-ES" sz="2350" b="1">
                <a:solidFill>
                  <a:srgbClr val="222222"/>
                </a:solidFill>
              </a:rPr>
              <a:t> </a:t>
            </a:r>
            <a:r>
              <a:rPr lang="es-ES" sz="2350" b="1">
                <a:solidFill>
                  <a:srgbClr val="CE9178"/>
                </a:solidFill>
              </a:rPr>
              <a:t>" </a:t>
            </a:r>
            <a:r>
              <a:rPr lang="es-ES" sz="2350" b="1">
                <a:solidFill>
                  <a:srgbClr val="336699"/>
                </a:solidFill>
              </a:rPr>
              <a:t>$z</a:t>
            </a:r>
            <a:r>
              <a:rPr lang="es-ES" sz="2350" b="1">
                <a:solidFill>
                  <a:srgbClr val="CE9178"/>
                </a:solidFill>
              </a:rPr>
              <a:t>"</a:t>
            </a:r>
            <a:endParaRPr sz="2350" b="1">
              <a:solidFill>
                <a:srgbClr val="CE9178"/>
              </a:solidFill>
            </a:endParaRPr>
          </a:p>
          <a:p>
            <a:pPr marL="0" lvl="0" indent="0" algn="l" rtl="0">
              <a:spcBef>
                <a:spcPts val="0"/>
              </a:spcBef>
              <a:spcAft>
                <a:spcPts val="0"/>
              </a:spcAft>
              <a:buClr>
                <a:schemeClr val="dk1"/>
              </a:buClr>
              <a:buSzPts val="1100"/>
              <a:buFont typeface="Arial"/>
              <a:buNone/>
            </a:pPr>
            <a:r>
              <a:rPr lang="es-ES" sz="2350" b="1">
                <a:solidFill>
                  <a:srgbClr val="FF0000"/>
                </a:solidFill>
              </a:rPr>
              <a:t>?&gt;</a:t>
            </a:r>
            <a:endParaRPr sz="2350" b="1">
              <a:solidFill>
                <a:srgbClr val="FF0000"/>
              </a:solidFill>
            </a:endParaRPr>
          </a:p>
          <a:p>
            <a:pPr marL="0" lvl="0" indent="0" algn="l" rtl="0">
              <a:spcBef>
                <a:spcPts val="0"/>
              </a:spcBef>
              <a:spcAft>
                <a:spcPts val="0"/>
              </a:spcAft>
              <a:buClr>
                <a:schemeClr val="dk1"/>
              </a:buClr>
              <a:buSzPts val="1100"/>
              <a:buFont typeface="Arial"/>
              <a:buNone/>
            </a:pPr>
            <a:r>
              <a:rPr lang="es-ES" sz="1850">
                <a:solidFill>
                  <a:srgbClr val="808080"/>
                </a:solidFill>
              </a:rPr>
              <a:t>&lt;/</a:t>
            </a:r>
            <a:r>
              <a:rPr lang="es-ES" sz="1850">
                <a:solidFill>
                  <a:srgbClr val="569CD6"/>
                </a:solidFill>
              </a:rPr>
              <a:t>body</a:t>
            </a:r>
            <a:r>
              <a:rPr lang="es-ES" sz="1850">
                <a:solidFill>
                  <a:srgbClr val="808080"/>
                </a:solidFill>
              </a:rPr>
              <a:t>&gt;</a:t>
            </a:r>
            <a:endParaRPr sz="1850">
              <a:solidFill>
                <a:srgbClr val="808080"/>
              </a:solidFill>
            </a:endParaRPr>
          </a:p>
          <a:p>
            <a:pPr marL="0" lvl="0" indent="0" algn="l" rtl="0">
              <a:spcBef>
                <a:spcPts val="0"/>
              </a:spcBef>
              <a:spcAft>
                <a:spcPts val="0"/>
              </a:spcAft>
              <a:buClr>
                <a:schemeClr val="dk1"/>
              </a:buClr>
              <a:buSzPts val="1100"/>
              <a:buFont typeface="Arial"/>
              <a:buNone/>
            </a:pPr>
            <a:r>
              <a:rPr lang="es-ES" sz="1850">
                <a:solidFill>
                  <a:srgbClr val="808080"/>
                </a:solidFill>
              </a:rPr>
              <a:t>&lt;/</a:t>
            </a:r>
            <a:r>
              <a:rPr lang="es-ES" sz="1850">
                <a:solidFill>
                  <a:srgbClr val="569CD6"/>
                </a:solidFill>
              </a:rPr>
              <a:t>html</a:t>
            </a:r>
            <a:r>
              <a:rPr lang="es-ES" sz="1850">
                <a:solidFill>
                  <a:srgbClr val="808080"/>
                </a:solidFill>
              </a:rPr>
              <a:t>&gt;</a:t>
            </a:r>
            <a:endParaRPr sz="2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44"/>
        <p:cNvGrpSpPr/>
        <p:nvPr/>
      </p:nvGrpSpPr>
      <p:grpSpPr>
        <a:xfrm>
          <a:off x="0" y="0"/>
          <a:ext cx="0" cy="0"/>
          <a:chOff x="0" y="0"/>
          <a:chExt cx="0" cy="0"/>
        </a:xfrm>
      </p:grpSpPr>
      <p:sp>
        <p:nvSpPr>
          <p:cNvPr id="145" name="Google Shape;145;g25f54edecb2_0_47"/>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46" name="Google Shape;146;g25f54edecb2_0_47"/>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47" name="Google Shape;147;g25f54edecb2_0_47"/>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48" name="Google Shape;148;g25f54edecb2_0_47"/>
          <p:cNvSpPr txBox="1"/>
          <p:nvPr/>
        </p:nvSpPr>
        <p:spPr>
          <a:xfrm>
            <a:off x="1374400" y="928250"/>
            <a:ext cx="3876900" cy="562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ES" sz="1750">
                <a:solidFill>
                  <a:srgbClr val="808080"/>
                </a:solidFill>
              </a:rPr>
              <a:t>&lt;</a:t>
            </a:r>
            <a:r>
              <a:rPr lang="es-ES" sz="1850">
                <a:solidFill>
                  <a:srgbClr val="569CD6"/>
                </a:solidFill>
              </a:rPr>
              <a:t>html</a:t>
            </a:r>
            <a:r>
              <a:rPr lang="es-ES" sz="1850">
                <a:solidFill>
                  <a:srgbClr val="808080"/>
                </a:solidFill>
              </a:rPr>
              <a:t>&gt;</a:t>
            </a:r>
            <a:endParaRPr sz="1850">
              <a:solidFill>
                <a:srgbClr val="808080"/>
              </a:solidFill>
            </a:endParaRPr>
          </a:p>
          <a:p>
            <a:pPr marL="0" lvl="0" indent="0" algn="l" rtl="0">
              <a:spcBef>
                <a:spcPts val="0"/>
              </a:spcBef>
              <a:spcAft>
                <a:spcPts val="0"/>
              </a:spcAft>
              <a:buClr>
                <a:schemeClr val="dk1"/>
              </a:buClr>
              <a:buSzPts val="1100"/>
              <a:buFont typeface="Arial"/>
              <a:buNone/>
            </a:pPr>
            <a:r>
              <a:rPr lang="es-ES" sz="1850">
                <a:solidFill>
                  <a:srgbClr val="808080"/>
                </a:solidFill>
              </a:rPr>
              <a:t>&lt;</a:t>
            </a:r>
            <a:r>
              <a:rPr lang="es-ES" sz="1850">
                <a:solidFill>
                  <a:srgbClr val="569CD6"/>
                </a:solidFill>
              </a:rPr>
              <a:t>head</a:t>
            </a:r>
            <a:r>
              <a:rPr lang="es-ES" sz="1850">
                <a:solidFill>
                  <a:srgbClr val="808080"/>
                </a:solidFill>
              </a:rPr>
              <a:t>&gt;</a:t>
            </a:r>
            <a:endParaRPr sz="1850">
              <a:solidFill>
                <a:srgbClr val="808080"/>
              </a:solidFill>
            </a:endParaRPr>
          </a:p>
          <a:p>
            <a:pPr marL="0" lvl="0" indent="0" algn="l" rtl="0">
              <a:spcBef>
                <a:spcPts val="0"/>
              </a:spcBef>
              <a:spcAft>
                <a:spcPts val="0"/>
              </a:spcAft>
              <a:buClr>
                <a:schemeClr val="dk1"/>
              </a:buClr>
              <a:buSzPts val="1100"/>
              <a:buFont typeface="Arial"/>
              <a:buNone/>
            </a:pPr>
            <a:r>
              <a:rPr lang="es-ES" sz="1850">
                <a:solidFill>
                  <a:srgbClr val="808080"/>
                </a:solidFill>
              </a:rPr>
              <a:t>&lt;</a:t>
            </a:r>
            <a:r>
              <a:rPr lang="es-ES" sz="1850">
                <a:solidFill>
                  <a:srgbClr val="569CD6"/>
                </a:solidFill>
              </a:rPr>
              <a:t>title</a:t>
            </a:r>
            <a:r>
              <a:rPr lang="es-ES" sz="1850">
                <a:solidFill>
                  <a:srgbClr val="808080"/>
                </a:solidFill>
              </a:rPr>
              <a:t>&gt;</a:t>
            </a:r>
            <a:r>
              <a:rPr lang="es-ES" sz="1850">
                <a:solidFill>
                  <a:srgbClr val="B45F06"/>
                </a:solidFill>
              </a:rPr>
              <a:t>El cuarto en PHP</a:t>
            </a:r>
            <a:r>
              <a:rPr lang="es-ES" sz="1850">
                <a:solidFill>
                  <a:srgbClr val="808080"/>
                </a:solidFill>
              </a:rPr>
              <a:t>&lt;/</a:t>
            </a:r>
            <a:r>
              <a:rPr lang="es-ES" sz="1850">
                <a:solidFill>
                  <a:srgbClr val="569CD6"/>
                </a:solidFill>
              </a:rPr>
              <a:t>title</a:t>
            </a:r>
            <a:r>
              <a:rPr lang="es-ES" sz="1850">
                <a:solidFill>
                  <a:srgbClr val="808080"/>
                </a:solidFill>
              </a:rPr>
              <a:t>&gt;</a:t>
            </a:r>
            <a:endParaRPr sz="1850">
              <a:solidFill>
                <a:srgbClr val="808080"/>
              </a:solidFill>
            </a:endParaRPr>
          </a:p>
          <a:p>
            <a:pPr marL="0" lvl="0" indent="0" algn="l" rtl="0">
              <a:spcBef>
                <a:spcPts val="0"/>
              </a:spcBef>
              <a:spcAft>
                <a:spcPts val="0"/>
              </a:spcAft>
              <a:buClr>
                <a:schemeClr val="dk1"/>
              </a:buClr>
              <a:buSzPts val="1100"/>
              <a:buFont typeface="Arial"/>
              <a:buNone/>
            </a:pPr>
            <a:r>
              <a:rPr lang="es-ES" sz="1850">
                <a:solidFill>
                  <a:srgbClr val="808080"/>
                </a:solidFill>
              </a:rPr>
              <a:t>&lt;/</a:t>
            </a:r>
            <a:r>
              <a:rPr lang="es-ES" sz="1850">
                <a:solidFill>
                  <a:srgbClr val="569CD6"/>
                </a:solidFill>
              </a:rPr>
              <a:t>head</a:t>
            </a:r>
            <a:r>
              <a:rPr lang="es-ES" sz="1850">
                <a:solidFill>
                  <a:srgbClr val="808080"/>
                </a:solidFill>
              </a:rPr>
              <a:t>&gt;</a:t>
            </a:r>
            <a:endParaRPr sz="1850">
              <a:solidFill>
                <a:srgbClr val="808080"/>
              </a:solidFill>
            </a:endParaRPr>
          </a:p>
          <a:p>
            <a:pPr marL="0" lvl="0" indent="0" algn="l" rtl="0">
              <a:spcBef>
                <a:spcPts val="0"/>
              </a:spcBef>
              <a:spcAft>
                <a:spcPts val="0"/>
              </a:spcAft>
              <a:buClr>
                <a:schemeClr val="dk1"/>
              </a:buClr>
              <a:buSzPts val="1100"/>
              <a:buFont typeface="Arial"/>
              <a:buNone/>
            </a:pPr>
            <a:r>
              <a:rPr lang="es-ES" sz="1850">
                <a:solidFill>
                  <a:srgbClr val="808080"/>
                </a:solidFill>
              </a:rPr>
              <a:t>&lt;</a:t>
            </a:r>
            <a:r>
              <a:rPr lang="es-ES" sz="1850">
                <a:solidFill>
                  <a:srgbClr val="569CD6"/>
                </a:solidFill>
              </a:rPr>
              <a:t>body</a:t>
            </a:r>
            <a:r>
              <a:rPr lang="es-ES" sz="1850">
                <a:solidFill>
                  <a:srgbClr val="808080"/>
                </a:solidFill>
              </a:rPr>
              <a:t>&gt;</a:t>
            </a:r>
            <a:endParaRPr sz="1850">
              <a:solidFill>
                <a:srgbClr val="808080"/>
              </a:solidFill>
            </a:endParaRPr>
          </a:p>
          <a:p>
            <a:pPr marL="0" lvl="0" indent="0" algn="l" rtl="0">
              <a:spcBef>
                <a:spcPts val="0"/>
              </a:spcBef>
              <a:spcAft>
                <a:spcPts val="0"/>
              </a:spcAft>
              <a:buNone/>
            </a:pPr>
            <a:r>
              <a:rPr lang="es-ES" sz="1850">
                <a:solidFill>
                  <a:srgbClr val="CCCCCC"/>
                </a:solidFill>
              </a:rPr>
              <a:t>    </a:t>
            </a:r>
            <a:r>
              <a:rPr lang="es-ES" sz="1850">
                <a:solidFill>
                  <a:srgbClr val="808080"/>
                </a:solidFill>
              </a:rPr>
              <a:t>&lt;</a:t>
            </a:r>
            <a:r>
              <a:rPr lang="es-ES" sz="1850">
                <a:solidFill>
                  <a:srgbClr val="569CD6"/>
                </a:solidFill>
              </a:rPr>
              <a:t>h1</a:t>
            </a:r>
            <a:r>
              <a:rPr lang="es-ES" sz="1850">
                <a:solidFill>
                  <a:srgbClr val="808080"/>
                </a:solidFill>
              </a:rPr>
              <a:t>&gt;</a:t>
            </a:r>
            <a:r>
              <a:rPr lang="es-ES" sz="1850">
                <a:solidFill>
                  <a:srgbClr val="A61C00"/>
                </a:solidFill>
              </a:rPr>
              <a:t>Nombre y Edad</a:t>
            </a:r>
            <a:r>
              <a:rPr lang="es-ES" sz="1850">
                <a:solidFill>
                  <a:srgbClr val="CCCCCC"/>
                </a:solidFill>
              </a:rPr>
              <a:t> </a:t>
            </a:r>
            <a:r>
              <a:rPr lang="es-ES" sz="1850">
                <a:solidFill>
                  <a:srgbClr val="808080"/>
                </a:solidFill>
              </a:rPr>
              <a:t>&lt;/</a:t>
            </a:r>
            <a:r>
              <a:rPr lang="es-ES" sz="1850">
                <a:solidFill>
                  <a:srgbClr val="569CD6"/>
                </a:solidFill>
              </a:rPr>
              <a:t>h1</a:t>
            </a:r>
            <a:r>
              <a:rPr lang="es-ES" sz="1850">
                <a:solidFill>
                  <a:srgbClr val="808080"/>
                </a:solidFill>
              </a:rPr>
              <a:t>&gt;</a:t>
            </a:r>
            <a:endParaRPr sz="1850">
              <a:solidFill>
                <a:srgbClr val="808080"/>
              </a:solidFill>
            </a:endParaRPr>
          </a:p>
          <a:p>
            <a:pPr marL="0" lvl="0" indent="0" algn="l" rtl="0">
              <a:spcBef>
                <a:spcPts val="0"/>
              </a:spcBef>
              <a:spcAft>
                <a:spcPts val="0"/>
              </a:spcAft>
              <a:buClr>
                <a:schemeClr val="dk1"/>
              </a:buClr>
              <a:buSzPts val="1100"/>
              <a:buFont typeface="Arial"/>
              <a:buNone/>
            </a:pPr>
            <a:endParaRPr sz="1850">
              <a:solidFill>
                <a:srgbClr val="808080"/>
              </a:solidFill>
            </a:endParaRPr>
          </a:p>
          <a:p>
            <a:pPr marL="0" lvl="0" indent="0" algn="l" rtl="0">
              <a:lnSpc>
                <a:spcPct val="135714"/>
              </a:lnSpc>
              <a:spcBef>
                <a:spcPts val="0"/>
              </a:spcBef>
              <a:spcAft>
                <a:spcPts val="0"/>
              </a:spcAft>
              <a:buNone/>
            </a:pPr>
            <a:r>
              <a:rPr lang="es-ES" sz="2350">
                <a:solidFill>
                  <a:srgbClr val="FF0000"/>
                </a:solidFill>
              </a:rPr>
              <a:t>&lt;?php</a:t>
            </a:r>
            <a:endParaRPr sz="1050">
              <a:solidFill>
                <a:srgbClr val="808080"/>
              </a:solidFill>
              <a:highlight>
                <a:srgbClr val="1F1F1F"/>
              </a:highlight>
              <a:latin typeface="Courier New"/>
              <a:ea typeface="Courier New"/>
              <a:cs typeface="Courier New"/>
              <a:sym typeface="Courier New"/>
            </a:endParaRPr>
          </a:p>
          <a:p>
            <a:pPr marL="0" lvl="0" indent="0" algn="l" rtl="0">
              <a:lnSpc>
                <a:spcPct val="136000"/>
              </a:lnSpc>
              <a:spcBef>
                <a:spcPts val="0"/>
              </a:spcBef>
              <a:spcAft>
                <a:spcPts val="0"/>
              </a:spcAft>
              <a:buNone/>
            </a:pPr>
            <a:r>
              <a:rPr lang="es-ES" sz="2350" b="1">
                <a:solidFill>
                  <a:srgbClr val="336699"/>
                </a:solidFill>
              </a:rPr>
              <a:t>    </a:t>
            </a:r>
            <a:r>
              <a:rPr lang="es-ES" sz="2050" b="1">
                <a:solidFill>
                  <a:srgbClr val="336699"/>
                </a:solidFill>
              </a:rPr>
              <a:t>$num1</a:t>
            </a:r>
            <a:r>
              <a:rPr lang="es-ES" sz="2050">
                <a:solidFill>
                  <a:schemeClr val="dk1"/>
                </a:solidFill>
              </a:rPr>
              <a:t>=3;</a:t>
            </a:r>
            <a:r>
              <a:rPr lang="es-ES" sz="2450" b="1">
                <a:solidFill>
                  <a:srgbClr val="336699"/>
                </a:solidFill>
              </a:rPr>
              <a:t> </a:t>
            </a:r>
            <a:r>
              <a:rPr lang="es-ES" sz="2050" b="1">
                <a:solidFill>
                  <a:srgbClr val="336699"/>
                </a:solidFill>
              </a:rPr>
              <a:t>   </a:t>
            </a:r>
            <a:endParaRPr sz="2050" b="1">
              <a:solidFill>
                <a:srgbClr val="336699"/>
              </a:solidFill>
            </a:endParaRPr>
          </a:p>
          <a:p>
            <a:pPr marL="0" lvl="0" indent="0" algn="l" rtl="0">
              <a:lnSpc>
                <a:spcPct val="136000"/>
              </a:lnSpc>
              <a:spcBef>
                <a:spcPts val="0"/>
              </a:spcBef>
              <a:spcAft>
                <a:spcPts val="0"/>
              </a:spcAft>
              <a:buNone/>
            </a:pPr>
            <a:r>
              <a:rPr lang="es-ES" sz="2050" b="1">
                <a:solidFill>
                  <a:srgbClr val="336699"/>
                </a:solidFill>
              </a:rPr>
              <a:t>    $num2</a:t>
            </a:r>
            <a:r>
              <a:rPr lang="es-ES" sz="2050">
                <a:solidFill>
                  <a:schemeClr val="dk1"/>
                </a:solidFill>
              </a:rPr>
              <a:t>=5;</a:t>
            </a:r>
            <a:endParaRPr sz="1650">
              <a:solidFill>
                <a:schemeClr val="dk1"/>
              </a:solidFill>
            </a:endParaRPr>
          </a:p>
          <a:p>
            <a:pPr marL="0" lvl="0" indent="0" algn="l" rtl="0">
              <a:lnSpc>
                <a:spcPct val="136000"/>
              </a:lnSpc>
              <a:spcBef>
                <a:spcPts val="0"/>
              </a:spcBef>
              <a:spcAft>
                <a:spcPts val="0"/>
              </a:spcAft>
              <a:buNone/>
            </a:pPr>
            <a:r>
              <a:rPr lang="es-ES" sz="2050" b="1">
                <a:solidFill>
                  <a:srgbClr val="336699"/>
                </a:solidFill>
              </a:rPr>
              <a:t>    $suma</a:t>
            </a:r>
            <a:r>
              <a:rPr lang="es-ES" sz="2050">
                <a:solidFill>
                  <a:schemeClr val="dk1"/>
                </a:solidFill>
              </a:rPr>
              <a:t>=</a:t>
            </a:r>
            <a:r>
              <a:rPr lang="es-ES" sz="2050" b="1">
                <a:solidFill>
                  <a:srgbClr val="336699"/>
                </a:solidFill>
              </a:rPr>
              <a:t>$num1</a:t>
            </a:r>
            <a:r>
              <a:rPr lang="es-ES" sz="2050">
                <a:solidFill>
                  <a:schemeClr val="dk1"/>
                </a:solidFill>
              </a:rPr>
              <a:t>+</a:t>
            </a:r>
            <a:r>
              <a:rPr lang="es-ES" sz="2050" b="1">
                <a:solidFill>
                  <a:srgbClr val="336699"/>
                </a:solidFill>
              </a:rPr>
              <a:t>$num2</a:t>
            </a:r>
            <a:r>
              <a:rPr lang="es-ES" sz="2050">
                <a:solidFill>
                  <a:schemeClr val="dk1"/>
                </a:solidFill>
              </a:rPr>
              <a:t>;</a:t>
            </a:r>
            <a:r>
              <a:rPr lang="es-ES" sz="2050" b="1">
                <a:solidFill>
                  <a:srgbClr val="336699"/>
                </a:solidFill>
              </a:rPr>
              <a:t>   </a:t>
            </a:r>
            <a:endParaRPr sz="2050" b="1">
              <a:solidFill>
                <a:srgbClr val="336699"/>
              </a:solidFill>
            </a:endParaRPr>
          </a:p>
          <a:p>
            <a:pPr marL="0" lvl="0" indent="0" algn="l" rtl="0">
              <a:lnSpc>
                <a:spcPct val="136000"/>
              </a:lnSpc>
              <a:spcBef>
                <a:spcPts val="0"/>
              </a:spcBef>
              <a:spcAft>
                <a:spcPts val="0"/>
              </a:spcAft>
              <a:buNone/>
            </a:pPr>
            <a:r>
              <a:rPr lang="es-ES" sz="2050" b="1">
                <a:solidFill>
                  <a:srgbClr val="336699"/>
                </a:solidFill>
              </a:rPr>
              <a:t>    $resta</a:t>
            </a:r>
            <a:r>
              <a:rPr lang="es-ES" sz="2050">
                <a:solidFill>
                  <a:schemeClr val="dk1"/>
                </a:solidFill>
              </a:rPr>
              <a:t>=</a:t>
            </a:r>
            <a:r>
              <a:rPr lang="es-ES" sz="2050" b="1">
                <a:solidFill>
                  <a:srgbClr val="336699"/>
                </a:solidFill>
              </a:rPr>
              <a:t>$num1</a:t>
            </a:r>
            <a:r>
              <a:rPr lang="es-ES" sz="2050">
                <a:solidFill>
                  <a:schemeClr val="dk1"/>
                </a:solidFill>
              </a:rPr>
              <a:t>-</a:t>
            </a:r>
            <a:r>
              <a:rPr lang="es-ES" sz="2050" b="1">
                <a:solidFill>
                  <a:srgbClr val="336699"/>
                </a:solidFill>
              </a:rPr>
              <a:t>$num2</a:t>
            </a:r>
            <a:r>
              <a:rPr lang="es-ES" sz="2050">
                <a:solidFill>
                  <a:schemeClr val="dk1"/>
                </a:solidFill>
              </a:rPr>
              <a:t>;</a:t>
            </a:r>
            <a:endParaRPr sz="1650">
              <a:solidFill>
                <a:schemeClr val="dk1"/>
              </a:solidFill>
            </a:endParaRPr>
          </a:p>
          <a:p>
            <a:pPr marL="0" lvl="0" indent="0" algn="l" rtl="0">
              <a:lnSpc>
                <a:spcPct val="136000"/>
              </a:lnSpc>
              <a:spcBef>
                <a:spcPts val="0"/>
              </a:spcBef>
              <a:spcAft>
                <a:spcPts val="0"/>
              </a:spcAft>
              <a:buNone/>
            </a:pPr>
            <a:r>
              <a:rPr lang="es-ES" sz="750">
                <a:solidFill>
                  <a:srgbClr val="D4D4D4"/>
                </a:solidFill>
                <a:highlight>
                  <a:srgbClr val="1F1F1F"/>
                </a:highlight>
                <a:latin typeface="Courier New"/>
                <a:ea typeface="Courier New"/>
                <a:cs typeface="Courier New"/>
                <a:sym typeface="Courier New"/>
              </a:rPr>
              <a:t>   </a:t>
            </a:r>
            <a:r>
              <a:rPr lang="es-ES" sz="2050" b="1">
                <a:solidFill>
                  <a:srgbClr val="336699"/>
                </a:solidFill>
              </a:rPr>
              <a:t>  $producto</a:t>
            </a:r>
            <a:r>
              <a:rPr lang="es-ES" sz="2050">
                <a:solidFill>
                  <a:schemeClr val="dk1"/>
                </a:solidFill>
              </a:rPr>
              <a:t>=</a:t>
            </a:r>
            <a:r>
              <a:rPr lang="es-ES" sz="2050" b="1">
                <a:solidFill>
                  <a:srgbClr val="336699"/>
                </a:solidFill>
              </a:rPr>
              <a:t>$num1</a:t>
            </a:r>
            <a:r>
              <a:rPr lang="es-ES" sz="2050">
                <a:solidFill>
                  <a:schemeClr val="dk1"/>
                </a:solidFill>
              </a:rPr>
              <a:t>*</a:t>
            </a:r>
            <a:r>
              <a:rPr lang="es-ES" sz="2050" b="1">
                <a:solidFill>
                  <a:srgbClr val="336699"/>
                </a:solidFill>
              </a:rPr>
              <a:t>$num2</a:t>
            </a:r>
            <a:r>
              <a:rPr lang="es-ES" sz="2050">
                <a:solidFill>
                  <a:schemeClr val="dk1"/>
                </a:solidFill>
              </a:rPr>
              <a:t>;</a:t>
            </a:r>
            <a:r>
              <a:rPr lang="es-ES" sz="1650">
                <a:solidFill>
                  <a:schemeClr val="dk1"/>
                </a:solidFill>
              </a:rPr>
              <a:t>  </a:t>
            </a:r>
            <a:endParaRPr sz="1650">
              <a:solidFill>
                <a:schemeClr val="dk1"/>
              </a:solidFill>
            </a:endParaRPr>
          </a:p>
          <a:p>
            <a:pPr marL="0" lvl="0" indent="0" algn="l" rtl="0">
              <a:lnSpc>
                <a:spcPct val="136000"/>
              </a:lnSpc>
              <a:spcBef>
                <a:spcPts val="0"/>
              </a:spcBef>
              <a:spcAft>
                <a:spcPts val="0"/>
              </a:spcAft>
              <a:buNone/>
            </a:pPr>
            <a:r>
              <a:rPr lang="es-ES" sz="2050" b="1">
                <a:solidFill>
                  <a:srgbClr val="336699"/>
                </a:solidFill>
              </a:rPr>
              <a:t>    $division</a:t>
            </a:r>
            <a:r>
              <a:rPr lang="es-ES" sz="2050">
                <a:solidFill>
                  <a:schemeClr val="dk1"/>
                </a:solidFill>
              </a:rPr>
              <a:t>=</a:t>
            </a:r>
            <a:r>
              <a:rPr lang="es-ES" sz="2050" b="1">
                <a:solidFill>
                  <a:srgbClr val="336699"/>
                </a:solidFill>
              </a:rPr>
              <a:t>$num1</a:t>
            </a:r>
            <a:r>
              <a:rPr lang="es-ES" sz="2050">
                <a:solidFill>
                  <a:schemeClr val="dk1"/>
                </a:solidFill>
              </a:rPr>
              <a:t>/</a:t>
            </a:r>
            <a:r>
              <a:rPr lang="es-ES" sz="2050" b="1">
                <a:solidFill>
                  <a:srgbClr val="336699"/>
                </a:solidFill>
              </a:rPr>
              <a:t>$num2</a:t>
            </a:r>
            <a:r>
              <a:rPr lang="es-ES" sz="2050">
                <a:solidFill>
                  <a:schemeClr val="dk1"/>
                </a:solidFill>
              </a:rPr>
              <a:t>;</a:t>
            </a:r>
            <a:endParaRPr sz="1650">
              <a:solidFill>
                <a:schemeClr val="dk1"/>
              </a:solidFill>
            </a:endParaRPr>
          </a:p>
          <a:p>
            <a:pPr marL="0" lvl="0" indent="0" algn="l" rtl="0">
              <a:lnSpc>
                <a:spcPct val="135714"/>
              </a:lnSpc>
              <a:spcBef>
                <a:spcPts val="0"/>
              </a:spcBef>
              <a:spcAft>
                <a:spcPts val="0"/>
              </a:spcAft>
              <a:buNone/>
            </a:pPr>
            <a:r>
              <a:rPr lang="es-ES" sz="1950">
                <a:solidFill>
                  <a:schemeClr val="dk1"/>
                </a:solidFill>
              </a:rPr>
              <a:t>    ….</a:t>
            </a:r>
            <a:endParaRPr sz="1950">
              <a:solidFill>
                <a:schemeClr val="dk1"/>
              </a:solidFill>
            </a:endParaRPr>
          </a:p>
        </p:txBody>
      </p:sp>
      <p:sp>
        <p:nvSpPr>
          <p:cNvPr id="149" name="Google Shape;149;g25f54edecb2_0_47"/>
          <p:cNvSpPr txBox="1"/>
          <p:nvPr/>
        </p:nvSpPr>
        <p:spPr>
          <a:xfrm>
            <a:off x="268725" y="312650"/>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2-3</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(ejercicio2-</a:t>
            </a:r>
            <a:r>
              <a:rPr lang="es-ES" sz="2000">
                <a:solidFill>
                  <a:srgbClr val="089908"/>
                </a:solidFill>
              </a:rPr>
              <a:t>3</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pic>
        <p:nvPicPr>
          <p:cNvPr id="150" name="Google Shape;150;g25f54edecb2_0_47"/>
          <p:cNvPicPr preferRelativeResize="0"/>
          <p:nvPr/>
        </p:nvPicPr>
        <p:blipFill rotWithShape="1">
          <a:blip r:embed="rId4">
            <a:alphaModFix/>
          </a:blip>
          <a:srcRect/>
          <a:stretch/>
        </p:blipFill>
        <p:spPr>
          <a:xfrm>
            <a:off x="7090700" y="1279225"/>
            <a:ext cx="4569450" cy="3340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54"/>
        <p:cNvGrpSpPr/>
        <p:nvPr/>
      </p:nvGrpSpPr>
      <p:grpSpPr>
        <a:xfrm>
          <a:off x="0" y="0"/>
          <a:ext cx="0" cy="0"/>
          <a:chOff x="0" y="0"/>
          <a:chExt cx="0" cy="0"/>
        </a:xfrm>
      </p:grpSpPr>
      <p:sp>
        <p:nvSpPr>
          <p:cNvPr id="155" name="Google Shape;155;g261097770e5_0_23"/>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56" name="Google Shape;156;g261097770e5_0_23"/>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57" name="Google Shape;157;g261097770e5_0_23"/>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58" name="Google Shape;158;g261097770e5_0_23"/>
          <p:cNvSpPr txBox="1"/>
          <p:nvPr/>
        </p:nvSpPr>
        <p:spPr>
          <a:xfrm>
            <a:off x="268725" y="312650"/>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2-3 continuación</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(ejercicio2-</a:t>
            </a:r>
            <a:r>
              <a:rPr lang="es-ES" sz="2000">
                <a:solidFill>
                  <a:srgbClr val="089908"/>
                </a:solidFill>
              </a:rPr>
              <a:t>3</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pic>
        <p:nvPicPr>
          <p:cNvPr id="159" name="Google Shape;159;g261097770e5_0_23"/>
          <p:cNvPicPr preferRelativeResize="0"/>
          <p:nvPr/>
        </p:nvPicPr>
        <p:blipFill rotWithShape="1">
          <a:blip r:embed="rId4">
            <a:alphaModFix/>
          </a:blip>
          <a:srcRect/>
          <a:stretch/>
        </p:blipFill>
        <p:spPr>
          <a:xfrm>
            <a:off x="8148425" y="600825"/>
            <a:ext cx="3413774" cy="2495750"/>
          </a:xfrm>
          <a:prstGeom prst="rect">
            <a:avLst/>
          </a:prstGeom>
          <a:noFill/>
          <a:ln>
            <a:noFill/>
          </a:ln>
        </p:spPr>
      </p:pic>
      <p:sp>
        <p:nvSpPr>
          <p:cNvPr id="160" name="Google Shape;160;g261097770e5_0_23"/>
          <p:cNvSpPr txBox="1"/>
          <p:nvPr/>
        </p:nvSpPr>
        <p:spPr>
          <a:xfrm>
            <a:off x="589100" y="1785500"/>
            <a:ext cx="8861100" cy="43473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1950">
                <a:solidFill>
                  <a:schemeClr val="dk1"/>
                </a:solidFill>
              </a:rPr>
              <a:t>…    </a:t>
            </a:r>
            <a:endParaRPr sz="1950">
              <a:solidFill>
                <a:schemeClr val="dk1"/>
              </a:solidFill>
            </a:endParaRPr>
          </a:p>
          <a:p>
            <a:pPr marL="0" lvl="0" indent="0" algn="l" rtl="0">
              <a:lnSpc>
                <a:spcPct val="135714"/>
              </a:lnSpc>
              <a:spcBef>
                <a:spcPts val="0"/>
              </a:spcBef>
              <a:spcAft>
                <a:spcPts val="0"/>
              </a:spcAft>
              <a:buNone/>
            </a:pPr>
            <a:r>
              <a:rPr lang="es-ES" sz="1950">
                <a:solidFill>
                  <a:schemeClr val="dk1"/>
                </a:solidFill>
              </a:rPr>
              <a:t>    </a:t>
            </a:r>
            <a:r>
              <a:rPr lang="es-ES" sz="1950" b="1">
                <a:solidFill>
                  <a:srgbClr val="20124D"/>
                </a:solidFill>
              </a:rPr>
              <a:t>echo </a:t>
            </a:r>
            <a:r>
              <a:rPr lang="es-ES" sz="1950">
                <a:solidFill>
                  <a:schemeClr val="dk1"/>
                </a:solidFill>
              </a:rPr>
              <a:t>"&lt;h2&gt;El primer operando es " </a:t>
            </a:r>
            <a:r>
              <a:rPr lang="es-ES" sz="2150" b="1">
                <a:solidFill>
                  <a:schemeClr val="dk1"/>
                </a:solidFill>
              </a:rPr>
              <a:t>.</a:t>
            </a:r>
            <a:r>
              <a:rPr lang="es-ES" sz="1950">
                <a:solidFill>
                  <a:schemeClr val="dk1"/>
                </a:solidFill>
              </a:rPr>
              <a:t> </a:t>
            </a:r>
            <a:r>
              <a:rPr lang="es-ES" sz="2050" b="1">
                <a:solidFill>
                  <a:srgbClr val="336699"/>
                </a:solidFill>
              </a:rPr>
              <a:t>$num1</a:t>
            </a:r>
            <a:r>
              <a:rPr lang="es-ES" sz="1950">
                <a:solidFill>
                  <a:schemeClr val="dk1"/>
                </a:solidFill>
              </a:rPr>
              <a:t>;</a:t>
            </a:r>
            <a:endParaRPr sz="1950">
              <a:solidFill>
                <a:schemeClr val="dk1"/>
              </a:solidFill>
            </a:endParaRPr>
          </a:p>
          <a:p>
            <a:pPr marL="0" lvl="0" indent="0" algn="l" rtl="0">
              <a:lnSpc>
                <a:spcPct val="135714"/>
              </a:lnSpc>
              <a:spcBef>
                <a:spcPts val="0"/>
              </a:spcBef>
              <a:spcAft>
                <a:spcPts val="0"/>
              </a:spcAft>
              <a:buNone/>
            </a:pPr>
            <a:r>
              <a:rPr lang="es-ES" sz="1950">
                <a:solidFill>
                  <a:schemeClr val="dk1"/>
                </a:solidFill>
              </a:rPr>
              <a:t>    </a:t>
            </a:r>
            <a:r>
              <a:rPr lang="es-ES" sz="1950" b="1">
                <a:solidFill>
                  <a:srgbClr val="20124D"/>
                </a:solidFill>
              </a:rPr>
              <a:t>echo </a:t>
            </a:r>
            <a:r>
              <a:rPr lang="es-ES" sz="1950">
                <a:solidFill>
                  <a:schemeClr val="dk1"/>
                </a:solidFill>
              </a:rPr>
              <a:t>"&lt;h2&gt;El segundo operando es " </a:t>
            </a:r>
            <a:r>
              <a:rPr lang="es-ES" sz="2150" b="1">
                <a:solidFill>
                  <a:schemeClr val="dk1"/>
                </a:solidFill>
              </a:rPr>
              <a:t>. </a:t>
            </a:r>
            <a:r>
              <a:rPr lang="es-ES" sz="2050" b="1">
                <a:solidFill>
                  <a:srgbClr val="336699"/>
                </a:solidFill>
              </a:rPr>
              <a:t>$num2</a:t>
            </a:r>
            <a:r>
              <a:rPr lang="es-ES" sz="1950">
                <a:solidFill>
                  <a:schemeClr val="dk1"/>
                </a:solidFill>
              </a:rPr>
              <a:t>;</a:t>
            </a:r>
            <a:endParaRPr sz="1950">
              <a:solidFill>
                <a:schemeClr val="dk1"/>
              </a:solidFill>
            </a:endParaRPr>
          </a:p>
          <a:p>
            <a:pPr marL="0" lvl="0" indent="0" algn="l" rtl="0">
              <a:lnSpc>
                <a:spcPct val="135714"/>
              </a:lnSpc>
              <a:spcBef>
                <a:spcPts val="0"/>
              </a:spcBef>
              <a:spcAft>
                <a:spcPts val="0"/>
              </a:spcAft>
              <a:buNone/>
            </a:pPr>
            <a:r>
              <a:rPr lang="es-ES" sz="1950">
                <a:solidFill>
                  <a:schemeClr val="dk1"/>
                </a:solidFill>
              </a:rPr>
              <a:t>    </a:t>
            </a:r>
            <a:r>
              <a:rPr lang="es-ES" sz="1950" b="1">
                <a:solidFill>
                  <a:srgbClr val="20124D"/>
                </a:solidFill>
              </a:rPr>
              <a:t>echo </a:t>
            </a:r>
            <a:r>
              <a:rPr lang="es-ES" sz="1950">
                <a:solidFill>
                  <a:schemeClr val="dk1"/>
                </a:solidFill>
              </a:rPr>
              <a:t>"&lt;h2&gt;La suma de " </a:t>
            </a:r>
            <a:r>
              <a:rPr lang="es-ES" sz="2150" b="1">
                <a:solidFill>
                  <a:schemeClr val="dk1"/>
                </a:solidFill>
              </a:rPr>
              <a:t>.</a:t>
            </a:r>
            <a:r>
              <a:rPr lang="es-ES" sz="1950">
                <a:solidFill>
                  <a:schemeClr val="dk1"/>
                </a:solidFill>
              </a:rPr>
              <a:t> </a:t>
            </a:r>
            <a:r>
              <a:rPr lang="es-ES" sz="2050" b="1">
                <a:solidFill>
                  <a:srgbClr val="336699"/>
                </a:solidFill>
              </a:rPr>
              <a:t>$num1</a:t>
            </a:r>
            <a:r>
              <a:rPr lang="es-ES" sz="1950">
                <a:solidFill>
                  <a:schemeClr val="dk1"/>
                </a:solidFill>
              </a:rPr>
              <a:t> </a:t>
            </a:r>
            <a:r>
              <a:rPr lang="es-ES" sz="2150" b="1">
                <a:solidFill>
                  <a:schemeClr val="dk1"/>
                </a:solidFill>
              </a:rPr>
              <a:t>.</a:t>
            </a:r>
            <a:r>
              <a:rPr lang="es-ES" sz="1950">
                <a:solidFill>
                  <a:schemeClr val="dk1"/>
                </a:solidFill>
              </a:rPr>
              <a:t> " y "  </a:t>
            </a:r>
            <a:r>
              <a:rPr lang="es-ES" sz="2150" b="1">
                <a:solidFill>
                  <a:schemeClr val="dk1"/>
                </a:solidFill>
              </a:rPr>
              <a:t>. </a:t>
            </a:r>
            <a:r>
              <a:rPr lang="es-ES" sz="2050" b="1">
                <a:solidFill>
                  <a:srgbClr val="336699"/>
                </a:solidFill>
              </a:rPr>
              <a:t>$num2</a:t>
            </a:r>
            <a:r>
              <a:rPr lang="es-ES" sz="1950">
                <a:solidFill>
                  <a:schemeClr val="dk1"/>
                </a:solidFill>
              </a:rPr>
              <a:t> </a:t>
            </a:r>
            <a:r>
              <a:rPr lang="es-ES" sz="2150" b="1">
                <a:solidFill>
                  <a:schemeClr val="dk1"/>
                </a:solidFill>
              </a:rPr>
              <a:t>.</a:t>
            </a:r>
            <a:r>
              <a:rPr lang="es-ES" sz="1950">
                <a:solidFill>
                  <a:schemeClr val="dk1"/>
                </a:solidFill>
              </a:rPr>
              <a:t> " es " </a:t>
            </a:r>
            <a:r>
              <a:rPr lang="es-ES" sz="2150" b="1">
                <a:solidFill>
                  <a:schemeClr val="dk1"/>
                </a:solidFill>
              </a:rPr>
              <a:t>.</a:t>
            </a:r>
            <a:r>
              <a:rPr lang="es-ES" sz="2050" b="1">
                <a:solidFill>
                  <a:srgbClr val="336699"/>
                </a:solidFill>
              </a:rPr>
              <a:t> $suma</a:t>
            </a:r>
            <a:r>
              <a:rPr lang="es-ES" sz="1950">
                <a:solidFill>
                  <a:schemeClr val="dk1"/>
                </a:solidFill>
              </a:rPr>
              <a:t>;</a:t>
            </a:r>
            <a:endParaRPr sz="1950">
              <a:solidFill>
                <a:schemeClr val="dk1"/>
              </a:solidFill>
            </a:endParaRPr>
          </a:p>
          <a:p>
            <a:pPr marL="0" lvl="0" indent="0" algn="l" rtl="0">
              <a:lnSpc>
                <a:spcPct val="135714"/>
              </a:lnSpc>
              <a:spcBef>
                <a:spcPts val="0"/>
              </a:spcBef>
              <a:spcAft>
                <a:spcPts val="0"/>
              </a:spcAft>
              <a:buNone/>
            </a:pPr>
            <a:r>
              <a:rPr lang="es-ES" sz="1950">
                <a:solidFill>
                  <a:schemeClr val="dk1"/>
                </a:solidFill>
              </a:rPr>
              <a:t>    </a:t>
            </a:r>
            <a:r>
              <a:rPr lang="es-ES" sz="1950" b="1">
                <a:solidFill>
                  <a:srgbClr val="20124D"/>
                </a:solidFill>
              </a:rPr>
              <a:t>echo </a:t>
            </a:r>
            <a:r>
              <a:rPr lang="es-ES" sz="1950">
                <a:solidFill>
                  <a:schemeClr val="dk1"/>
                </a:solidFill>
              </a:rPr>
              <a:t>"&lt;h2&gt;La resta de " </a:t>
            </a:r>
            <a:r>
              <a:rPr lang="es-ES" sz="2150" b="1">
                <a:solidFill>
                  <a:schemeClr val="dk1"/>
                </a:solidFill>
              </a:rPr>
              <a:t>.</a:t>
            </a:r>
            <a:r>
              <a:rPr lang="es-ES" sz="1950">
                <a:solidFill>
                  <a:schemeClr val="dk1"/>
                </a:solidFill>
              </a:rPr>
              <a:t> </a:t>
            </a:r>
            <a:r>
              <a:rPr lang="es-ES" sz="2050" b="1">
                <a:solidFill>
                  <a:srgbClr val="336699"/>
                </a:solidFill>
              </a:rPr>
              <a:t>$num1</a:t>
            </a:r>
            <a:r>
              <a:rPr lang="es-ES" sz="1950">
                <a:solidFill>
                  <a:schemeClr val="dk1"/>
                </a:solidFill>
              </a:rPr>
              <a:t> . " y " ,</a:t>
            </a:r>
            <a:r>
              <a:rPr lang="es-ES" sz="2050" b="1">
                <a:solidFill>
                  <a:srgbClr val="336699"/>
                </a:solidFill>
              </a:rPr>
              <a:t>$num2</a:t>
            </a:r>
            <a:r>
              <a:rPr lang="es-ES" sz="1950">
                <a:solidFill>
                  <a:schemeClr val="dk1"/>
                </a:solidFill>
              </a:rPr>
              <a:t> . " es " </a:t>
            </a:r>
            <a:r>
              <a:rPr lang="es-ES" sz="2150" b="1">
                <a:solidFill>
                  <a:schemeClr val="dk1"/>
                </a:solidFill>
              </a:rPr>
              <a:t>.</a:t>
            </a:r>
            <a:r>
              <a:rPr lang="es-ES" sz="1950">
                <a:solidFill>
                  <a:schemeClr val="dk1"/>
                </a:solidFill>
              </a:rPr>
              <a:t> </a:t>
            </a:r>
            <a:r>
              <a:rPr lang="es-ES" sz="2050" b="1">
                <a:solidFill>
                  <a:srgbClr val="336699"/>
                </a:solidFill>
              </a:rPr>
              <a:t>$resta</a:t>
            </a:r>
            <a:r>
              <a:rPr lang="es-ES" sz="1950">
                <a:solidFill>
                  <a:schemeClr val="dk1"/>
                </a:solidFill>
              </a:rPr>
              <a:t>;</a:t>
            </a:r>
            <a:endParaRPr sz="1950">
              <a:solidFill>
                <a:schemeClr val="dk1"/>
              </a:solidFill>
            </a:endParaRPr>
          </a:p>
          <a:p>
            <a:pPr marL="0" lvl="0" indent="0" algn="l" rtl="0">
              <a:lnSpc>
                <a:spcPct val="135714"/>
              </a:lnSpc>
              <a:spcBef>
                <a:spcPts val="0"/>
              </a:spcBef>
              <a:spcAft>
                <a:spcPts val="0"/>
              </a:spcAft>
              <a:buNone/>
            </a:pPr>
            <a:r>
              <a:rPr lang="es-ES" sz="1950">
                <a:solidFill>
                  <a:schemeClr val="dk1"/>
                </a:solidFill>
              </a:rPr>
              <a:t>    </a:t>
            </a:r>
            <a:r>
              <a:rPr lang="es-ES" sz="1950" b="1">
                <a:solidFill>
                  <a:srgbClr val="20124D"/>
                </a:solidFill>
              </a:rPr>
              <a:t>echo </a:t>
            </a:r>
            <a:r>
              <a:rPr lang="es-ES" sz="1950">
                <a:solidFill>
                  <a:schemeClr val="dk1"/>
                </a:solidFill>
              </a:rPr>
              <a:t>"&lt;h2&gt;El producto  de " </a:t>
            </a:r>
            <a:r>
              <a:rPr lang="es-ES" sz="2150" b="1">
                <a:solidFill>
                  <a:schemeClr val="dk1"/>
                </a:solidFill>
              </a:rPr>
              <a:t>.</a:t>
            </a:r>
            <a:r>
              <a:rPr lang="es-ES" sz="1950">
                <a:solidFill>
                  <a:schemeClr val="dk1"/>
                </a:solidFill>
              </a:rPr>
              <a:t> </a:t>
            </a:r>
            <a:r>
              <a:rPr lang="es-ES" sz="2050" b="1">
                <a:solidFill>
                  <a:srgbClr val="336699"/>
                </a:solidFill>
              </a:rPr>
              <a:t>$num1</a:t>
            </a:r>
            <a:r>
              <a:rPr lang="es-ES" sz="1950">
                <a:solidFill>
                  <a:schemeClr val="dk1"/>
                </a:solidFill>
              </a:rPr>
              <a:t> . " y " ,</a:t>
            </a:r>
            <a:r>
              <a:rPr lang="es-ES" sz="2050" b="1">
                <a:solidFill>
                  <a:srgbClr val="336699"/>
                </a:solidFill>
              </a:rPr>
              <a:t>$num2</a:t>
            </a:r>
            <a:r>
              <a:rPr lang="es-ES" sz="1950">
                <a:solidFill>
                  <a:schemeClr val="dk1"/>
                </a:solidFill>
              </a:rPr>
              <a:t> </a:t>
            </a:r>
            <a:r>
              <a:rPr lang="es-ES" sz="2150" b="1">
                <a:solidFill>
                  <a:schemeClr val="dk1"/>
                </a:solidFill>
              </a:rPr>
              <a:t>.</a:t>
            </a:r>
            <a:r>
              <a:rPr lang="es-ES" sz="1950">
                <a:solidFill>
                  <a:schemeClr val="dk1"/>
                </a:solidFill>
              </a:rPr>
              <a:t> " es " </a:t>
            </a:r>
            <a:r>
              <a:rPr lang="es-ES" sz="2150" b="1">
                <a:solidFill>
                  <a:schemeClr val="dk1"/>
                </a:solidFill>
              </a:rPr>
              <a:t>.</a:t>
            </a:r>
            <a:r>
              <a:rPr lang="es-ES" sz="2050" b="1">
                <a:solidFill>
                  <a:srgbClr val="336699"/>
                </a:solidFill>
              </a:rPr>
              <a:t> $producto</a:t>
            </a:r>
            <a:r>
              <a:rPr lang="es-ES" sz="1950">
                <a:solidFill>
                  <a:schemeClr val="dk1"/>
                </a:solidFill>
              </a:rPr>
              <a:t>;</a:t>
            </a:r>
            <a:endParaRPr sz="1950">
              <a:solidFill>
                <a:schemeClr val="dk1"/>
              </a:solidFill>
            </a:endParaRPr>
          </a:p>
          <a:p>
            <a:pPr marL="0" lvl="0" indent="0" algn="l" rtl="0">
              <a:lnSpc>
                <a:spcPct val="135714"/>
              </a:lnSpc>
              <a:spcBef>
                <a:spcPts val="0"/>
              </a:spcBef>
              <a:spcAft>
                <a:spcPts val="0"/>
              </a:spcAft>
              <a:buNone/>
            </a:pPr>
            <a:r>
              <a:rPr lang="es-ES" sz="1950">
                <a:solidFill>
                  <a:schemeClr val="dk1"/>
                </a:solidFill>
              </a:rPr>
              <a:t>    </a:t>
            </a:r>
            <a:r>
              <a:rPr lang="es-ES" sz="1950" b="1">
                <a:solidFill>
                  <a:srgbClr val="20124D"/>
                </a:solidFill>
              </a:rPr>
              <a:t>echo </a:t>
            </a:r>
            <a:r>
              <a:rPr lang="es-ES" sz="1950">
                <a:solidFill>
                  <a:schemeClr val="dk1"/>
                </a:solidFill>
              </a:rPr>
              <a:t>"&lt;h2&gt;La división de " </a:t>
            </a:r>
            <a:r>
              <a:rPr lang="es-ES" sz="2150" b="1">
                <a:solidFill>
                  <a:schemeClr val="dk1"/>
                </a:solidFill>
              </a:rPr>
              <a:t>.</a:t>
            </a:r>
            <a:r>
              <a:rPr lang="es-ES" sz="1950">
                <a:solidFill>
                  <a:schemeClr val="dk1"/>
                </a:solidFill>
              </a:rPr>
              <a:t> </a:t>
            </a:r>
            <a:r>
              <a:rPr lang="es-ES" sz="2050" b="1">
                <a:solidFill>
                  <a:srgbClr val="336699"/>
                </a:solidFill>
              </a:rPr>
              <a:t>$num1</a:t>
            </a:r>
            <a:r>
              <a:rPr lang="es-ES" sz="1950">
                <a:solidFill>
                  <a:schemeClr val="dk1"/>
                </a:solidFill>
              </a:rPr>
              <a:t> </a:t>
            </a:r>
            <a:r>
              <a:rPr lang="es-ES" sz="2150" b="1">
                <a:solidFill>
                  <a:schemeClr val="dk1"/>
                </a:solidFill>
              </a:rPr>
              <a:t>.</a:t>
            </a:r>
            <a:r>
              <a:rPr lang="es-ES" sz="1950">
                <a:solidFill>
                  <a:schemeClr val="dk1"/>
                </a:solidFill>
              </a:rPr>
              <a:t> " y " </a:t>
            </a:r>
            <a:r>
              <a:rPr lang="es-ES" sz="2150" b="1">
                <a:solidFill>
                  <a:schemeClr val="dk1"/>
                </a:solidFill>
              </a:rPr>
              <a:t>. </a:t>
            </a:r>
            <a:r>
              <a:rPr lang="es-ES" sz="2050" b="1">
                <a:solidFill>
                  <a:srgbClr val="336699"/>
                </a:solidFill>
              </a:rPr>
              <a:t>$num2</a:t>
            </a:r>
            <a:r>
              <a:rPr lang="es-ES" sz="1950">
                <a:solidFill>
                  <a:schemeClr val="dk1"/>
                </a:solidFill>
              </a:rPr>
              <a:t> </a:t>
            </a:r>
            <a:r>
              <a:rPr lang="es-ES" sz="2150" b="1">
                <a:solidFill>
                  <a:schemeClr val="dk1"/>
                </a:solidFill>
              </a:rPr>
              <a:t>.</a:t>
            </a:r>
            <a:r>
              <a:rPr lang="es-ES" sz="1950">
                <a:solidFill>
                  <a:schemeClr val="dk1"/>
                </a:solidFill>
              </a:rPr>
              <a:t> " es " </a:t>
            </a:r>
            <a:r>
              <a:rPr lang="es-ES" sz="2150" b="1">
                <a:solidFill>
                  <a:schemeClr val="dk1"/>
                </a:solidFill>
              </a:rPr>
              <a:t>.</a:t>
            </a:r>
            <a:r>
              <a:rPr lang="es-ES" sz="1950">
                <a:solidFill>
                  <a:schemeClr val="dk1"/>
                </a:solidFill>
              </a:rPr>
              <a:t> </a:t>
            </a:r>
            <a:r>
              <a:rPr lang="es-ES" sz="2050" b="1">
                <a:solidFill>
                  <a:srgbClr val="336699"/>
                </a:solidFill>
              </a:rPr>
              <a:t>$division</a:t>
            </a:r>
            <a:r>
              <a:rPr lang="es-ES" sz="1950">
                <a:solidFill>
                  <a:schemeClr val="dk1"/>
                </a:solidFill>
              </a:rPr>
              <a:t>;</a:t>
            </a:r>
            <a:endParaRPr sz="1950">
              <a:solidFill>
                <a:schemeClr val="dk1"/>
              </a:solidFill>
            </a:endParaRPr>
          </a:p>
          <a:p>
            <a:pPr marL="0" lvl="0" indent="0" algn="l" rtl="0">
              <a:lnSpc>
                <a:spcPct val="135714"/>
              </a:lnSpc>
              <a:spcBef>
                <a:spcPts val="0"/>
              </a:spcBef>
              <a:spcAft>
                <a:spcPts val="0"/>
              </a:spcAft>
              <a:buNone/>
            </a:pPr>
            <a:r>
              <a:rPr lang="es-ES" sz="2350">
                <a:solidFill>
                  <a:srgbClr val="FF0000"/>
                </a:solidFill>
              </a:rPr>
              <a:t>?&gt;</a:t>
            </a:r>
            <a:endParaRPr sz="1950">
              <a:solidFill>
                <a:schemeClr val="dk1"/>
              </a:solidFill>
            </a:endParaRPr>
          </a:p>
          <a:p>
            <a:pPr marL="0" lvl="0" indent="0" algn="l" rtl="0">
              <a:spcBef>
                <a:spcPts val="0"/>
              </a:spcBef>
              <a:spcAft>
                <a:spcPts val="0"/>
              </a:spcAft>
              <a:buNone/>
            </a:pPr>
            <a:r>
              <a:rPr lang="es-ES" sz="1850">
                <a:solidFill>
                  <a:srgbClr val="808080"/>
                </a:solidFill>
              </a:rPr>
              <a:t>&lt;</a:t>
            </a:r>
            <a:r>
              <a:rPr lang="es-ES" sz="1850">
                <a:solidFill>
                  <a:schemeClr val="dk1"/>
                </a:solidFill>
              </a:rPr>
              <a:t>/</a:t>
            </a:r>
            <a:r>
              <a:rPr lang="es-ES" sz="1850">
                <a:solidFill>
                  <a:srgbClr val="569CD6"/>
                </a:solidFill>
              </a:rPr>
              <a:t>body</a:t>
            </a:r>
            <a:r>
              <a:rPr lang="es-ES" sz="1850">
                <a:solidFill>
                  <a:srgbClr val="808080"/>
                </a:solidFill>
              </a:rPr>
              <a:t>&gt;</a:t>
            </a:r>
            <a:endParaRPr sz="1950">
              <a:solidFill>
                <a:schemeClr val="dk1"/>
              </a:solidFill>
            </a:endParaRPr>
          </a:p>
          <a:p>
            <a:pPr marL="0" lvl="0" indent="0" algn="l" rtl="0">
              <a:spcBef>
                <a:spcPts val="0"/>
              </a:spcBef>
              <a:spcAft>
                <a:spcPts val="0"/>
              </a:spcAft>
              <a:buNone/>
            </a:pPr>
            <a:r>
              <a:rPr lang="es-ES" sz="1750">
                <a:solidFill>
                  <a:srgbClr val="808080"/>
                </a:solidFill>
              </a:rPr>
              <a:t>&lt;</a:t>
            </a:r>
            <a:r>
              <a:rPr lang="es-ES" sz="1850">
                <a:solidFill>
                  <a:schemeClr val="dk1"/>
                </a:solidFill>
              </a:rPr>
              <a:t>/</a:t>
            </a:r>
            <a:r>
              <a:rPr lang="es-ES" sz="1850">
                <a:solidFill>
                  <a:srgbClr val="569CD6"/>
                </a:solidFill>
              </a:rPr>
              <a:t>html</a:t>
            </a:r>
            <a:r>
              <a:rPr lang="es-ES" sz="1850">
                <a:solidFill>
                  <a:srgbClr val="808080"/>
                </a:solidFill>
              </a:rPr>
              <a:t>&gt;</a:t>
            </a:r>
            <a:endParaRPr sz="195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64"/>
        <p:cNvGrpSpPr/>
        <p:nvPr/>
      </p:nvGrpSpPr>
      <p:grpSpPr>
        <a:xfrm>
          <a:off x="0" y="0"/>
          <a:ext cx="0" cy="0"/>
          <a:chOff x="0" y="0"/>
          <a:chExt cx="0" cy="0"/>
        </a:xfrm>
      </p:grpSpPr>
      <p:sp>
        <p:nvSpPr>
          <p:cNvPr id="165" name="Google Shape;165;g25f54edecb2_0_74"/>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66" name="Google Shape;166;g25f54edecb2_0_74"/>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67" name="Google Shape;167;g25f54edecb2_0_74"/>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68" name="Google Shape;168;g25f54edecb2_0_74"/>
          <p:cNvSpPr txBox="1">
            <a:spLocks noGrp="1"/>
          </p:cNvSpPr>
          <p:nvPr>
            <p:ph type="ctrTitle"/>
          </p:nvPr>
        </p:nvSpPr>
        <p:spPr>
          <a:xfrm>
            <a:off x="0" y="436593"/>
            <a:ext cx="115875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OPERADORES</a:t>
            </a:r>
            <a:endParaRPr sz="3600">
              <a:solidFill>
                <a:srgbClr val="0070C0"/>
              </a:solidFill>
              <a:latin typeface="Arial"/>
              <a:ea typeface="Arial"/>
              <a:cs typeface="Arial"/>
              <a:sym typeface="Arial"/>
            </a:endParaRPr>
          </a:p>
        </p:txBody>
      </p:sp>
      <p:sp>
        <p:nvSpPr>
          <p:cNvPr id="169" name="Google Shape;169;g25f54edecb2_0_74"/>
          <p:cNvSpPr txBox="1"/>
          <p:nvPr/>
        </p:nvSpPr>
        <p:spPr>
          <a:xfrm>
            <a:off x="436675" y="1768000"/>
            <a:ext cx="10874700" cy="10467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1800"/>
              </a:spcBef>
              <a:spcAft>
                <a:spcPts val="0"/>
              </a:spcAft>
              <a:buClr>
                <a:srgbClr val="000000"/>
              </a:buClr>
              <a:buSzPts val="2800"/>
              <a:buFont typeface="Arial"/>
              <a:buChar char="●"/>
            </a:pPr>
            <a:r>
              <a:rPr lang="es-ES" sz="2800" b="0" i="0" u="none" strike="noStrike" cap="none">
                <a:solidFill>
                  <a:schemeClr val="dk1"/>
                </a:solidFill>
                <a:latin typeface="Arial"/>
                <a:ea typeface="Arial"/>
                <a:cs typeface="Arial"/>
                <a:sym typeface="Arial"/>
              </a:rPr>
              <a:t>Este ejercicio pretende ver las diferencias entre los operadores ++$a y $a++.</a:t>
            </a:r>
            <a:endParaRPr sz="2800" b="0" i="0" u="none" strike="noStrike" cap="none">
              <a:solidFill>
                <a:schemeClr val="dk1"/>
              </a:solidFill>
              <a:latin typeface="Arial"/>
              <a:ea typeface="Arial"/>
              <a:cs typeface="Arial"/>
              <a:sym typeface="Arial"/>
            </a:endParaRPr>
          </a:p>
        </p:txBody>
      </p:sp>
      <p:sp>
        <p:nvSpPr>
          <p:cNvPr id="170" name="Google Shape;170;g25f54edecb2_0_74"/>
          <p:cNvSpPr txBox="1"/>
          <p:nvPr/>
        </p:nvSpPr>
        <p:spPr>
          <a:xfrm>
            <a:off x="884550" y="1152400"/>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2.prueba2</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2-prueba2</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pic>
        <p:nvPicPr>
          <p:cNvPr id="171" name="Google Shape;171;g25f54edecb2_0_74"/>
          <p:cNvPicPr preferRelativeResize="0"/>
          <p:nvPr/>
        </p:nvPicPr>
        <p:blipFill rotWithShape="1">
          <a:blip r:embed="rId4">
            <a:alphaModFix/>
          </a:blip>
          <a:srcRect/>
          <a:stretch/>
        </p:blipFill>
        <p:spPr>
          <a:xfrm>
            <a:off x="5589298" y="2779714"/>
            <a:ext cx="6276152" cy="2495338"/>
          </a:xfrm>
          <a:prstGeom prst="rect">
            <a:avLst/>
          </a:prstGeom>
          <a:noFill/>
          <a:ln>
            <a:noFill/>
          </a:ln>
        </p:spPr>
      </p:pic>
      <p:sp>
        <p:nvSpPr>
          <p:cNvPr id="172" name="Google Shape;172;g25f54edecb2_0_74"/>
          <p:cNvSpPr txBox="1"/>
          <p:nvPr/>
        </p:nvSpPr>
        <p:spPr>
          <a:xfrm>
            <a:off x="503875" y="2910163"/>
            <a:ext cx="4775400" cy="34326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1800"/>
              </a:spcBef>
              <a:spcAft>
                <a:spcPts val="0"/>
              </a:spcAft>
              <a:buClr>
                <a:schemeClr val="dk1"/>
              </a:buClr>
              <a:buSzPts val="2800"/>
              <a:buFont typeface="Arial"/>
              <a:buChar char="●"/>
            </a:pPr>
            <a:r>
              <a:rPr lang="es-ES" sz="2800" b="0" i="0" u="none" strike="noStrike" cap="none">
                <a:solidFill>
                  <a:schemeClr val="dk1"/>
                </a:solidFill>
                <a:latin typeface="Arial"/>
                <a:ea typeface="Arial"/>
                <a:cs typeface="Arial"/>
                <a:sym typeface="Arial"/>
              </a:rPr>
              <a:t>Crea, por tanto, dos variables a y b y, asigna primero a b=++a y luego a b=a++</a:t>
            </a:r>
            <a:endParaRPr sz="2800" b="0" i="0" u="none" strike="noStrike" cap="none">
              <a:solidFill>
                <a:schemeClr val="dk1"/>
              </a:solidFill>
              <a:latin typeface="Arial"/>
              <a:ea typeface="Arial"/>
              <a:cs typeface="Arial"/>
              <a:sym typeface="Arial"/>
            </a:endParaRPr>
          </a:p>
          <a:p>
            <a:pPr marL="457200" marR="0" lvl="0" indent="-406400" algn="l" rtl="0">
              <a:lnSpc>
                <a:spcPct val="100000"/>
              </a:lnSpc>
              <a:spcBef>
                <a:spcPts val="1800"/>
              </a:spcBef>
              <a:spcAft>
                <a:spcPts val="0"/>
              </a:spcAft>
              <a:buClr>
                <a:schemeClr val="dk1"/>
              </a:buClr>
              <a:buSzPts val="2800"/>
              <a:buFont typeface="Arial"/>
              <a:buChar char="●"/>
            </a:pPr>
            <a:r>
              <a:rPr lang="es-ES" sz="2800" b="0" i="0" u="none" strike="noStrike" cap="none">
                <a:solidFill>
                  <a:schemeClr val="dk1"/>
                </a:solidFill>
                <a:latin typeface="Arial"/>
                <a:ea typeface="Arial"/>
                <a:cs typeface="Arial"/>
                <a:sym typeface="Arial"/>
              </a:rPr>
              <a:t>Muestra los mensajes del valor de las variables y del resultado por pantalla</a:t>
            </a:r>
            <a:endParaRPr sz="28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76"/>
        <p:cNvGrpSpPr/>
        <p:nvPr/>
      </p:nvGrpSpPr>
      <p:grpSpPr>
        <a:xfrm>
          <a:off x="0" y="0"/>
          <a:ext cx="0" cy="0"/>
          <a:chOff x="0" y="0"/>
          <a:chExt cx="0" cy="0"/>
        </a:xfrm>
      </p:grpSpPr>
      <p:sp>
        <p:nvSpPr>
          <p:cNvPr id="177" name="Google Shape;177;g261097770e5_0_33"/>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78" name="Google Shape;178;g261097770e5_0_33"/>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79" name="Google Shape;179;g261097770e5_0_33"/>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80" name="Google Shape;180;g261097770e5_0_33"/>
          <p:cNvSpPr txBox="1"/>
          <p:nvPr/>
        </p:nvSpPr>
        <p:spPr>
          <a:xfrm>
            <a:off x="1360425" y="228675"/>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2.prueba2</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2-prueba2</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181" name="Google Shape;181;g261097770e5_0_33"/>
          <p:cNvSpPr txBox="1"/>
          <p:nvPr/>
        </p:nvSpPr>
        <p:spPr>
          <a:xfrm>
            <a:off x="615800" y="952800"/>
            <a:ext cx="10653600" cy="49194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2350">
                <a:solidFill>
                  <a:srgbClr val="FF0000"/>
                </a:solidFill>
              </a:rPr>
              <a:t>&lt;?php</a:t>
            </a:r>
            <a:endParaRPr sz="1050">
              <a:solidFill>
                <a:srgbClr val="569CD6"/>
              </a:solidFill>
              <a:latin typeface="Courier New"/>
              <a:ea typeface="Courier New"/>
              <a:cs typeface="Courier New"/>
              <a:sym typeface="Courier New"/>
            </a:endParaRPr>
          </a:p>
          <a:p>
            <a:pPr marL="0" lvl="0" indent="0" algn="l" rtl="0">
              <a:lnSpc>
                <a:spcPct val="110000"/>
              </a:lnSpc>
              <a:spcBef>
                <a:spcPts val="0"/>
              </a:spcBef>
              <a:spcAft>
                <a:spcPts val="0"/>
              </a:spcAft>
              <a:buNone/>
            </a:pPr>
            <a:r>
              <a:rPr lang="es-ES" sz="1050">
                <a:solidFill>
                  <a:srgbClr val="D4D4D4"/>
                </a:solidFill>
                <a:latin typeface="Courier New"/>
                <a:ea typeface="Courier New"/>
                <a:cs typeface="Courier New"/>
                <a:sym typeface="Courier New"/>
              </a:rPr>
              <a:t>   </a:t>
            </a:r>
            <a:r>
              <a:rPr lang="es-ES" sz="1050">
                <a:solidFill>
                  <a:schemeClr val="dk1"/>
                </a:solidFill>
                <a:latin typeface="Courier New"/>
                <a:ea typeface="Courier New"/>
                <a:cs typeface="Courier New"/>
                <a:sym typeface="Courier New"/>
              </a:rPr>
              <a:t> </a:t>
            </a:r>
            <a:r>
              <a:rPr lang="es-ES" sz="2050" b="1">
                <a:solidFill>
                  <a:srgbClr val="336699"/>
                </a:solidFill>
              </a:rPr>
              <a:t>$a</a:t>
            </a:r>
            <a:r>
              <a:rPr lang="es-ES" sz="2050">
                <a:solidFill>
                  <a:schemeClr val="dk1"/>
                </a:solidFill>
              </a:rPr>
              <a:t>=5;</a:t>
            </a:r>
            <a:r>
              <a:rPr lang="es-ES" sz="2450" b="1">
                <a:solidFill>
                  <a:srgbClr val="336699"/>
                </a:solidFill>
              </a:rPr>
              <a:t> </a:t>
            </a:r>
            <a:r>
              <a:rPr lang="es-ES" sz="2050" b="1">
                <a:solidFill>
                  <a:srgbClr val="336699"/>
                </a:solidFill>
              </a:rPr>
              <a:t>       $b</a:t>
            </a:r>
            <a:r>
              <a:rPr lang="es-ES" sz="2050">
                <a:solidFill>
                  <a:schemeClr val="dk1"/>
                </a:solidFill>
              </a:rPr>
              <a:t>=3;</a:t>
            </a:r>
            <a:endParaRPr sz="1650">
              <a:solidFill>
                <a:schemeClr val="dk1"/>
              </a:solidFill>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    </a:t>
            </a:r>
            <a:r>
              <a:rPr lang="es-ES" sz="1950" b="1">
                <a:solidFill>
                  <a:srgbClr val="20124D"/>
                </a:solidFill>
              </a:rPr>
              <a:t>print </a:t>
            </a:r>
            <a:r>
              <a:rPr lang="es-ES" sz="1050">
                <a:solidFill>
                  <a:schemeClr val="dk1"/>
                </a:solidFill>
                <a:latin typeface="Courier New"/>
                <a:ea typeface="Courier New"/>
                <a:cs typeface="Courier New"/>
                <a:sym typeface="Courier New"/>
              </a:rPr>
              <a:t> </a:t>
            </a:r>
            <a:r>
              <a:rPr lang="es-ES" sz="1950">
                <a:solidFill>
                  <a:schemeClr val="dk1"/>
                </a:solidFill>
              </a:rPr>
              <a:t>"&lt;h2&gt;El valor de a es </a:t>
            </a:r>
            <a:r>
              <a:rPr lang="es-ES" sz="2050" b="1">
                <a:solidFill>
                  <a:srgbClr val="336699"/>
                </a:solidFill>
              </a:rPr>
              <a:t>$a</a:t>
            </a:r>
            <a:r>
              <a:rPr lang="es-ES" sz="1950">
                <a:solidFill>
                  <a:schemeClr val="dk1"/>
                </a:solidFill>
              </a:rPr>
              <a:t> y de b es </a:t>
            </a:r>
            <a:r>
              <a:rPr lang="es-ES" sz="2050" b="1">
                <a:solidFill>
                  <a:srgbClr val="336699"/>
                </a:solidFill>
              </a:rPr>
              <a:t>$b</a:t>
            </a:r>
            <a:r>
              <a:rPr lang="es-ES" sz="1950">
                <a:solidFill>
                  <a:schemeClr val="dk1"/>
                </a:solidFill>
              </a:rPr>
              <a:t>" </a:t>
            </a:r>
            <a:r>
              <a:rPr lang="es-ES" sz="2150" b="1">
                <a:solidFill>
                  <a:schemeClr val="dk1"/>
                </a:solidFill>
              </a:rPr>
              <a:t>\n</a:t>
            </a:r>
            <a:r>
              <a:rPr lang="es-ES" sz="1950">
                <a:solidFill>
                  <a:schemeClr val="dk1"/>
                </a:solidFill>
              </a:rPr>
              <a:t>;</a:t>
            </a:r>
            <a:endParaRPr sz="1050">
              <a:solidFill>
                <a:schemeClr val="dk1"/>
              </a:solidFill>
              <a:latin typeface="Courier New"/>
              <a:ea typeface="Courier New"/>
              <a:cs typeface="Courier New"/>
              <a:sym typeface="Courier New"/>
            </a:endParaRPr>
          </a:p>
          <a:p>
            <a:pPr marL="0" lvl="0" indent="0" algn="l" rtl="0">
              <a:lnSpc>
                <a:spcPct val="110000"/>
              </a:lnSpc>
              <a:spcBef>
                <a:spcPts val="0"/>
              </a:spcBef>
              <a:spcAft>
                <a:spcPts val="0"/>
              </a:spcAft>
              <a:buNone/>
            </a:pPr>
            <a:r>
              <a:rPr lang="es-ES" sz="1050">
                <a:solidFill>
                  <a:schemeClr val="dk1"/>
                </a:solidFill>
                <a:latin typeface="Courier New"/>
                <a:ea typeface="Courier New"/>
                <a:cs typeface="Courier New"/>
                <a:sym typeface="Courier New"/>
              </a:rPr>
              <a:t>    </a:t>
            </a:r>
            <a:r>
              <a:rPr lang="es-ES" sz="2050" b="1">
                <a:solidFill>
                  <a:srgbClr val="336699"/>
                </a:solidFill>
              </a:rPr>
              <a:t>$b</a:t>
            </a:r>
            <a:r>
              <a:rPr lang="es-ES" sz="1050">
                <a:solidFill>
                  <a:schemeClr val="dk1"/>
                </a:solidFill>
                <a:latin typeface="Courier New"/>
                <a:ea typeface="Courier New"/>
                <a:cs typeface="Courier New"/>
                <a:sym typeface="Courier New"/>
              </a:rPr>
              <a:t> </a:t>
            </a:r>
            <a:r>
              <a:rPr lang="es-ES" sz="2050">
                <a:solidFill>
                  <a:schemeClr val="dk1"/>
                </a:solidFill>
              </a:rPr>
              <a:t>=</a:t>
            </a:r>
            <a:r>
              <a:rPr lang="es-ES" sz="1050">
                <a:solidFill>
                  <a:schemeClr val="dk1"/>
                </a:solidFill>
                <a:latin typeface="Courier New"/>
                <a:ea typeface="Courier New"/>
                <a:cs typeface="Courier New"/>
                <a:sym typeface="Courier New"/>
              </a:rPr>
              <a:t> </a:t>
            </a:r>
            <a:r>
              <a:rPr lang="es-ES" sz="2050" b="1">
                <a:solidFill>
                  <a:srgbClr val="336699"/>
                </a:solidFill>
              </a:rPr>
              <a:t>++$a</a:t>
            </a:r>
            <a:r>
              <a:rPr lang="es-ES" sz="1950">
                <a:solidFill>
                  <a:schemeClr val="dk1"/>
                </a:solidFill>
              </a:rPr>
              <a:t>;</a:t>
            </a:r>
            <a:r>
              <a:rPr lang="es-ES"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    </a:t>
            </a:r>
            <a:r>
              <a:rPr lang="es-ES" sz="1950" b="1">
                <a:solidFill>
                  <a:srgbClr val="20124D"/>
                </a:solidFill>
              </a:rPr>
              <a:t>print </a:t>
            </a:r>
            <a:r>
              <a:rPr lang="es-ES" sz="1050">
                <a:solidFill>
                  <a:schemeClr val="dk1"/>
                </a:solidFill>
                <a:latin typeface="Courier New"/>
                <a:ea typeface="Courier New"/>
                <a:cs typeface="Courier New"/>
                <a:sym typeface="Courier New"/>
              </a:rPr>
              <a:t> </a:t>
            </a:r>
            <a:r>
              <a:rPr lang="es-ES" sz="1950">
                <a:solidFill>
                  <a:schemeClr val="dk1"/>
                </a:solidFill>
              </a:rPr>
              <a:t>"&lt;h2&gt;Con la operación b=++a el valor de a es " .  </a:t>
            </a:r>
            <a:r>
              <a:rPr lang="es-ES" sz="2050" b="1">
                <a:solidFill>
                  <a:srgbClr val="336699"/>
                </a:solidFill>
              </a:rPr>
              <a:t>$a</a:t>
            </a:r>
            <a:r>
              <a:rPr lang="es-ES" sz="1950">
                <a:solidFill>
                  <a:schemeClr val="dk1"/>
                </a:solidFill>
              </a:rPr>
              <a:t> . " y el de b es " .  </a:t>
            </a:r>
            <a:r>
              <a:rPr lang="es-ES" sz="2050" b="1">
                <a:solidFill>
                  <a:srgbClr val="336699"/>
                </a:solidFill>
              </a:rPr>
              <a:t>$b </a:t>
            </a:r>
            <a:r>
              <a:rPr lang="es-ES" sz="1950">
                <a:solidFill>
                  <a:schemeClr val="dk1"/>
                </a:solidFill>
              </a:rPr>
              <a:t>. " </a:t>
            </a:r>
            <a:r>
              <a:rPr lang="es-ES" sz="2150" b="1">
                <a:solidFill>
                  <a:schemeClr val="dk1"/>
                </a:solidFill>
              </a:rPr>
              <a:t>\n</a:t>
            </a:r>
            <a:r>
              <a:rPr lang="es-ES" sz="1950">
                <a:solidFill>
                  <a:schemeClr val="dk1"/>
                </a:solidFill>
              </a:rPr>
              <a:t>";</a:t>
            </a:r>
            <a:endParaRPr sz="1950">
              <a:solidFill>
                <a:schemeClr val="dk1"/>
              </a:solidFill>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    </a:t>
            </a:r>
            <a:r>
              <a:rPr lang="es-ES" sz="1450">
                <a:solidFill>
                  <a:srgbClr val="333333"/>
                </a:solidFill>
              </a:rPr>
              <a:t>//Si realizamos ésto a continuación ten en cuenta que los valores iniciales han cambiado       //$b = $a++;</a:t>
            </a:r>
            <a:endParaRPr sz="1450">
              <a:solidFill>
                <a:srgbClr val="333333"/>
              </a:solidFill>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   </a:t>
            </a:r>
            <a:r>
              <a:rPr lang="es-ES" sz="1450">
                <a:solidFill>
                  <a:srgbClr val="333333"/>
                </a:solidFill>
              </a:rPr>
              <a:t> //print "Con la operación b=a++ el valor de a es " .$a . "y el de b  es " . $b .  "\n";</a:t>
            </a:r>
            <a:endParaRPr sz="1450">
              <a:solidFill>
                <a:srgbClr val="333333"/>
              </a:solidFill>
            </a:endParaRPr>
          </a:p>
          <a:p>
            <a:pPr marL="0" lvl="0" indent="0" algn="l" rtl="0">
              <a:lnSpc>
                <a:spcPct val="135714"/>
              </a:lnSpc>
              <a:spcBef>
                <a:spcPts val="0"/>
              </a:spcBef>
              <a:spcAft>
                <a:spcPts val="0"/>
              </a:spcAft>
              <a:buNone/>
            </a:pPr>
            <a:r>
              <a:rPr lang="es-ES" sz="1450">
                <a:solidFill>
                  <a:srgbClr val="333333"/>
                </a:solidFill>
              </a:rPr>
              <a:t>     //volvemos a inicializar las variables</a:t>
            </a:r>
            <a:endParaRPr sz="1450">
              <a:solidFill>
                <a:srgbClr val="333333"/>
              </a:solidFill>
            </a:endParaRPr>
          </a:p>
          <a:p>
            <a:pPr marL="0" lvl="0" indent="0" algn="l" rtl="0">
              <a:lnSpc>
                <a:spcPct val="110000"/>
              </a:lnSpc>
              <a:spcBef>
                <a:spcPts val="0"/>
              </a:spcBef>
              <a:spcAft>
                <a:spcPts val="0"/>
              </a:spcAft>
              <a:buNone/>
            </a:pPr>
            <a:r>
              <a:rPr lang="es-ES" sz="1050">
                <a:solidFill>
                  <a:schemeClr val="dk1"/>
                </a:solidFill>
                <a:latin typeface="Courier New"/>
                <a:ea typeface="Courier New"/>
                <a:cs typeface="Courier New"/>
                <a:sym typeface="Courier New"/>
              </a:rPr>
              <a:t>    </a:t>
            </a:r>
            <a:r>
              <a:rPr lang="es-ES" sz="2050" b="1">
                <a:solidFill>
                  <a:srgbClr val="336699"/>
                </a:solidFill>
              </a:rPr>
              <a:t>$a</a:t>
            </a:r>
            <a:r>
              <a:rPr lang="es-ES" sz="2050">
                <a:solidFill>
                  <a:schemeClr val="dk1"/>
                </a:solidFill>
              </a:rPr>
              <a:t>=5;</a:t>
            </a:r>
            <a:r>
              <a:rPr lang="es-ES" sz="2450" b="1">
                <a:solidFill>
                  <a:srgbClr val="336699"/>
                </a:solidFill>
              </a:rPr>
              <a:t> </a:t>
            </a:r>
            <a:r>
              <a:rPr lang="es-ES" sz="2050" b="1">
                <a:solidFill>
                  <a:srgbClr val="336699"/>
                </a:solidFill>
              </a:rPr>
              <a:t>       $b</a:t>
            </a:r>
            <a:r>
              <a:rPr lang="es-ES" sz="2050">
                <a:solidFill>
                  <a:schemeClr val="dk1"/>
                </a:solidFill>
              </a:rPr>
              <a:t>=3;</a:t>
            </a:r>
            <a:endParaRPr sz="1650">
              <a:solidFill>
                <a:schemeClr val="dk1"/>
              </a:solidFill>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    </a:t>
            </a:r>
            <a:r>
              <a:rPr lang="es-ES" sz="1950" b="1">
                <a:solidFill>
                  <a:srgbClr val="20124D"/>
                </a:solidFill>
              </a:rPr>
              <a:t>print </a:t>
            </a:r>
            <a:r>
              <a:rPr lang="es-ES" sz="1050">
                <a:solidFill>
                  <a:schemeClr val="dk1"/>
                </a:solidFill>
                <a:latin typeface="Courier New"/>
                <a:ea typeface="Courier New"/>
                <a:cs typeface="Courier New"/>
                <a:sym typeface="Courier New"/>
              </a:rPr>
              <a:t> </a:t>
            </a:r>
            <a:r>
              <a:rPr lang="es-ES" sz="1950">
                <a:solidFill>
                  <a:schemeClr val="dk1"/>
                </a:solidFill>
              </a:rPr>
              <a:t>"&lt;h2&gt;El valor de a es </a:t>
            </a:r>
            <a:r>
              <a:rPr lang="es-ES" sz="2050" b="1">
                <a:solidFill>
                  <a:srgbClr val="336699"/>
                </a:solidFill>
              </a:rPr>
              <a:t>$a</a:t>
            </a:r>
            <a:r>
              <a:rPr lang="es-ES" sz="1950">
                <a:solidFill>
                  <a:schemeClr val="dk1"/>
                </a:solidFill>
              </a:rPr>
              <a:t> y de b es </a:t>
            </a:r>
            <a:r>
              <a:rPr lang="es-ES" sz="2050" b="1">
                <a:solidFill>
                  <a:srgbClr val="336699"/>
                </a:solidFill>
              </a:rPr>
              <a:t>$b</a:t>
            </a:r>
            <a:r>
              <a:rPr lang="es-ES" sz="1950">
                <a:solidFill>
                  <a:schemeClr val="dk1"/>
                </a:solidFill>
              </a:rPr>
              <a:t>" </a:t>
            </a:r>
            <a:r>
              <a:rPr lang="es-ES" sz="2150" b="1">
                <a:solidFill>
                  <a:schemeClr val="dk1"/>
                </a:solidFill>
              </a:rPr>
              <a:t>\n</a:t>
            </a:r>
            <a:r>
              <a:rPr lang="es-ES" sz="1950">
                <a:solidFill>
                  <a:schemeClr val="dk1"/>
                </a:solidFill>
              </a:rPr>
              <a:t>;</a:t>
            </a:r>
            <a:r>
              <a:rPr lang="es-ES" sz="2050" b="1">
                <a:solidFill>
                  <a:srgbClr val="336699"/>
                </a:solidFill>
              </a:rPr>
              <a:t>$b</a:t>
            </a:r>
            <a:r>
              <a:rPr lang="es-ES" sz="1050">
                <a:solidFill>
                  <a:schemeClr val="dk1"/>
                </a:solidFill>
                <a:latin typeface="Courier New"/>
                <a:ea typeface="Courier New"/>
                <a:cs typeface="Courier New"/>
                <a:sym typeface="Courier New"/>
              </a:rPr>
              <a:t> </a:t>
            </a:r>
            <a:r>
              <a:rPr lang="es-ES" sz="2050">
                <a:solidFill>
                  <a:schemeClr val="dk1"/>
                </a:solidFill>
              </a:rPr>
              <a:t>=</a:t>
            </a:r>
            <a:r>
              <a:rPr lang="es-ES" sz="1050">
                <a:solidFill>
                  <a:schemeClr val="dk1"/>
                </a:solidFill>
                <a:latin typeface="Courier New"/>
                <a:ea typeface="Courier New"/>
                <a:cs typeface="Courier New"/>
                <a:sym typeface="Courier New"/>
              </a:rPr>
              <a:t> </a:t>
            </a:r>
            <a:r>
              <a:rPr lang="es-ES" sz="2050" b="1">
                <a:solidFill>
                  <a:srgbClr val="336699"/>
                </a:solidFill>
              </a:rPr>
              <a:t>$a++</a:t>
            </a:r>
            <a:r>
              <a:rPr lang="es-ES" sz="1950">
                <a:solidFill>
                  <a:schemeClr val="dk1"/>
                </a:solidFill>
              </a:rPr>
              <a: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950" b="1">
                <a:solidFill>
                  <a:srgbClr val="20124D"/>
                </a:solidFill>
              </a:rPr>
              <a:t>     print </a:t>
            </a:r>
            <a:r>
              <a:rPr lang="es-ES" sz="1050">
                <a:solidFill>
                  <a:schemeClr val="dk1"/>
                </a:solidFill>
                <a:latin typeface="Courier New"/>
                <a:ea typeface="Courier New"/>
                <a:cs typeface="Courier New"/>
                <a:sym typeface="Courier New"/>
              </a:rPr>
              <a:t> </a:t>
            </a:r>
            <a:r>
              <a:rPr lang="es-ES" sz="1950">
                <a:solidFill>
                  <a:schemeClr val="dk1"/>
                </a:solidFill>
              </a:rPr>
              <a:t>"&lt;h2&gt;Con la operación b=a++ el valor de a es " .  </a:t>
            </a:r>
            <a:r>
              <a:rPr lang="es-ES" sz="2050" b="1">
                <a:solidFill>
                  <a:srgbClr val="336699"/>
                </a:solidFill>
              </a:rPr>
              <a:t>$a</a:t>
            </a:r>
            <a:r>
              <a:rPr lang="es-ES" sz="1950">
                <a:solidFill>
                  <a:schemeClr val="dk1"/>
                </a:solidFill>
              </a:rPr>
              <a:t> . " y el de b es " .  </a:t>
            </a:r>
            <a:r>
              <a:rPr lang="es-ES" sz="2050" b="1">
                <a:solidFill>
                  <a:srgbClr val="336699"/>
                </a:solidFill>
              </a:rPr>
              <a:t>$b </a:t>
            </a:r>
            <a:r>
              <a:rPr lang="es-ES" sz="1950">
                <a:solidFill>
                  <a:schemeClr val="dk1"/>
                </a:solidFill>
              </a:rPr>
              <a:t>. " </a:t>
            </a:r>
            <a:r>
              <a:rPr lang="es-ES" sz="2150" b="1">
                <a:solidFill>
                  <a:schemeClr val="dk1"/>
                </a:solidFill>
              </a:rPr>
              <a:t>\n</a:t>
            </a:r>
            <a:r>
              <a:rPr lang="es-ES" sz="1950">
                <a:solidFill>
                  <a:schemeClr val="dk1"/>
                </a:solidFill>
              </a:rPr>
              <a: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2350">
                <a:solidFill>
                  <a:srgbClr val="FF0000"/>
                </a:solidFill>
              </a:rPr>
              <a:t>?&gt;</a:t>
            </a:r>
            <a:endParaRPr sz="1050">
              <a:solidFill>
                <a:schemeClr val="dk1"/>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85"/>
        <p:cNvGrpSpPr/>
        <p:nvPr/>
      </p:nvGrpSpPr>
      <p:grpSpPr>
        <a:xfrm>
          <a:off x="0" y="0"/>
          <a:ext cx="0" cy="0"/>
          <a:chOff x="0" y="0"/>
          <a:chExt cx="0" cy="0"/>
        </a:xfrm>
      </p:grpSpPr>
      <p:sp>
        <p:nvSpPr>
          <p:cNvPr id="186" name="Google Shape;186;g267dcef5d75_1_0"/>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87" name="Google Shape;187;g267dcef5d75_1_0"/>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88" name="Google Shape;188;g267dcef5d75_1_0"/>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189" name="Google Shape;189;g267dcef5d75_1_0"/>
          <p:cNvSpPr txBox="1">
            <a:spLocks noGrp="1"/>
          </p:cNvSpPr>
          <p:nvPr>
            <p:ph type="ctrTitle"/>
          </p:nvPr>
        </p:nvSpPr>
        <p:spPr>
          <a:xfrm>
            <a:off x="6818825" y="0"/>
            <a:ext cx="27357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Funciones</a:t>
            </a:r>
            <a:endParaRPr sz="3600">
              <a:solidFill>
                <a:srgbClr val="0070C0"/>
              </a:solidFill>
              <a:latin typeface="Arial"/>
              <a:ea typeface="Arial"/>
              <a:cs typeface="Arial"/>
              <a:sym typeface="Arial"/>
            </a:endParaRPr>
          </a:p>
        </p:txBody>
      </p:sp>
      <p:sp>
        <p:nvSpPr>
          <p:cNvPr id="190" name="Google Shape;190;g267dcef5d75_1_0"/>
          <p:cNvSpPr txBox="1"/>
          <p:nvPr/>
        </p:nvSpPr>
        <p:spPr>
          <a:xfrm>
            <a:off x="646600" y="50100"/>
            <a:ext cx="58392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2.p3</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2-p3</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191" name="Google Shape;191;g267dcef5d75_1_0"/>
          <p:cNvSpPr txBox="1"/>
          <p:nvPr/>
        </p:nvSpPr>
        <p:spPr>
          <a:xfrm>
            <a:off x="464675" y="1147675"/>
            <a:ext cx="11028900" cy="47469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es-ES" sz="2350">
                <a:solidFill>
                  <a:srgbClr val="FF0000"/>
                </a:solidFill>
              </a:rPr>
              <a:t>&lt;?php</a:t>
            </a:r>
            <a:endParaRPr sz="2050" i="0" u="none" strike="noStrike" cap="none">
              <a:solidFill>
                <a:srgbClr val="0000BB"/>
              </a:solidFill>
            </a:endParaRPr>
          </a:p>
          <a:p>
            <a:pPr marL="0" marR="0" lvl="0" indent="0" algn="l" rtl="0">
              <a:lnSpc>
                <a:spcPct val="100000"/>
              </a:lnSpc>
              <a:spcBef>
                <a:spcPts val="0"/>
              </a:spcBef>
              <a:spcAft>
                <a:spcPts val="0"/>
              </a:spcAft>
              <a:buClr>
                <a:srgbClr val="000000"/>
              </a:buClr>
              <a:buSzPts val="1050"/>
              <a:buFont typeface="Arial"/>
              <a:buNone/>
            </a:pPr>
            <a:r>
              <a:rPr lang="es-ES" sz="2050" i="0" u="none" strike="noStrike" cap="none">
                <a:solidFill>
                  <a:srgbClr val="0000BB"/>
                </a:solidFill>
              </a:rPr>
              <a:t>$text </a:t>
            </a:r>
            <a:r>
              <a:rPr lang="es-ES" sz="2050" i="0" u="none" strike="noStrike" cap="none">
                <a:solidFill>
                  <a:srgbClr val="007700"/>
                </a:solidFill>
              </a:rPr>
              <a:t>= </a:t>
            </a:r>
            <a:r>
              <a:rPr lang="es-ES" sz="2050" i="0" u="none" strike="noStrike" cap="none">
                <a:solidFill>
                  <a:srgbClr val="DD0000"/>
                </a:solidFill>
              </a:rPr>
              <a:t>'This is a test'</a:t>
            </a:r>
            <a:r>
              <a:rPr lang="es-ES" sz="2050" i="0" u="none" strike="noStrike" cap="none">
                <a:solidFill>
                  <a:srgbClr val="007700"/>
                </a:solidFill>
              </a:rPr>
              <a:t>;</a:t>
            </a:r>
            <a:endParaRPr sz="2050" i="0" u="none" strike="noStrike" cap="none">
              <a:solidFill>
                <a:srgbClr val="007700"/>
              </a:solidFill>
            </a:endParaRPr>
          </a:p>
          <a:p>
            <a:pPr marL="0" marR="0" lvl="0" indent="0" algn="l" rtl="0">
              <a:lnSpc>
                <a:spcPct val="100000"/>
              </a:lnSpc>
              <a:spcBef>
                <a:spcPts val="1200"/>
              </a:spcBef>
              <a:spcAft>
                <a:spcPts val="0"/>
              </a:spcAft>
              <a:buClr>
                <a:srgbClr val="000000"/>
              </a:buClr>
              <a:buSzPts val="1050"/>
              <a:buFont typeface="Arial"/>
              <a:buNone/>
            </a:pPr>
            <a:r>
              <a:rPr lang="es-ES" sz="2050" i="0" u="none" strike="noStrike" cap="none">
                <a:solidFill>
                  <a:srgbClr val="007700"/>
                </a:solidFill>
              </a:rPr>
              <a:t>echo </a:t>
            </a:r>
            <a:r>
              <a:rPr lang="es-ES" sz="2050" i="0" u="none" strike="noStrike" cap="none">
                <a:solidFill>
                  <a:srgbClr val="0000BB"/>
                </a:solidFill>
              </a:rPr>
              <a:t>strlen</a:t>
            </a:r>
            <a:r>
              <a:rPr lang="es-ES" sz="2050" i="0" u="none" strike="noStrike" cap="none">
                <a:solidFill>
                  <a:srgbClr val="007700"/>
                </a:solidFill>
              </a:rPr>
              <a:t>(</a:t>
            </a:r>
            <a:r>
              <a:rPr lang="es-ES" sz="2050" i="0" u="none" strike="noStrike" cap="none">
                <a:solidFill>
                  <a:srgbClr val="0000BB"/>
                </a:solidFill>
              </a:rPr>
              <a:t>$text</a:t>
            </a:r>
            <a:r>
              <a:rPr lang="es-ES" sz="2050" i="0" u="none" strike="noStrike" cap="none">
                <a:solidFill>
                  <a:srgbClr val="007700"/>
                </a:solidFill>
              </a:rPr>
              <a:t>); </a:t>
            </a:r>
            <a:r>
              <a:rPr lang="es-ES" sz="2050" i="0" u="none" strike="noStrike" cap="none">
                <a:solidFill>
                  <a:srgbClr val="FF8000"/>
                </a:solidFill>
              </a:rPr>
              <a:t>// 14</a:t>
            </a:r>
            <a:endParaRPr sz="2050" i="0" u="none" strike="noStrike" cap="none">
              <a:solidFill>
                <a:srgbClr val="FF8000"/>
              </a:solidFill>
            </a:endParaRPr>
          </a:p>
          <a:p>
            <a:pPr marL="0" lvl="0" indent="0" algn="l" rtl="0">
              <a:spcBef>
                <a:spcPts val="1200"/>
              </a:spcBef>
              <a:spcAft>
                <a:spcPts val="0"/>
              </a:spcAft>
              <a:buClr>
                <a:schemeClr val="dk1"/>
              </a:buClr>
              <a:buSzPts val="1050"/>
              <a:buFont typeface="Arial"/>
              <a:buNone/>
            </a:pPr>
            <a:r>
              <a:rPr lang="es-ES" sz="2050">
                <a:solidFill>
                  <a:srgbClr val="007700"/>
                </a:solidFill>
              </a:rPr>
              <a:t>echo $text[</a:t>
            </a:r>
            <a:r>
              <a:rPr lang="es-ES" sz="2050">
                <a:solidFill>
                  <a:srgbClr val="0000BB"/>
                </a:solidFill>
              </a:rPr>
              <a:t>strlen</a:t>
            </a:r>
            <a:r>
              <a:rPr lang="es-ES" sz="2050">
                <a:solidFill>
                  <a:srgbClr val="007700"/>
                </a:solidFill>
              </a:rPr>
              <a:t>(</a:t>
            </a:r>
            <a:r>
              <a:rPr lang="es-ES" sz="2050">
                <a:solidFill>
                  <a:srgbClr val="0000BB"/>
                </a:solidFill>
              </a:rPr>
              <a:t>$text</a:t>
            </a:r>
            <a:r>
              <a:rPr lang="es-ES" sz="2050">
                <a:solidFill>
                  <a:srgbClr val="007700"/>
                </a:solidFill>
              </a:rPr>
              <a:t>)-1];</a:t>
            </a:r>
            <a:r>
              <a:rPr lang="es-ES" sz="2050">
                <a:solidFill>
                  <a:srgbClr val="FF8000"/>
                </a:solidFill>
              </a:rPr>
              <a:t>// t</a:t>
            </a:r>
            <a:endParaRPr sz="2050" i="0" u="none" strike="noStrike" cap="none">
              <a:solidFill>
                <a:srgbClr val="FF8000"/>
              </a:solidFill>
            </a:endParaRPr>
          </a:p>
          <a:p>
            <a:pPr marL="0" marR="0" lvl="0" indent="0" algn="l" rtl="0">
              <a:lnSpc>
                <a:spcPct val="100000"/>
              </a:lnSpc>
              <a:spcBef>
                <a:spcPts val="1200"/>
              </a:spcBef>
              <a:spcAft>
                <a:spcPts val="0"/>
              </a:spcAft>
              <a:buClr>
                <a:srgbClr val="000000"/>
              </a:buClr>
              <a:buSzPts val="1050"/>
              <a:buFont typeface="Arial"/>
              <a:buNone/>
            </a:pPr>
            <a:r>
              <a:rPr lang="es-ES" sz="2050" i="0" u="none" strike="noStrike" cap="none">
                <a:solidFill>
                  <a:srgbClr val="007700"/>
                </a:solidFill>
              </a:rPr>
              <a:t>echo </a:t>
            </a:r>
            <a:r>
              <a:rPr lang="es-ES" sz="2050" i="0" u="none" strike="noStrike" cap="none">
                <a:solidFill>
                  <a:srgbClr val="0000BB"/>
                </a:solidFill>
              </a:rPr>
              <a:t>substr_count</a:t>
            </a:r>
            <a:r>
              <a:rPr lang="es-ES" sz="2050" i="0" u="none" strike="noStrike" cap="none">
                <a:solidFill>
                  <a:srgbClr val="007700"/>
                </a:solidFill>
              </a:rPr>
              <a:t>(</a:t>
            </a:r>
            <a:r>
              <a:rPr lang="es-ES" sz="2050" i="0" u="none" strike="noStrike" cap="none">
                <a:solidFill>
                  <a:srgbClr val="0000BB"/>
                </a:solidFill>
              </a:rPr>
              <a:t>$text</a:t>
            </a:r>
            <a:r>
              <a:rPr lang="es-ES" sz="2050" i="0" u="none" strike="noStrike" cap="none">
                <a:solidFill>
                  <a:srgbClr val="007700"/>
                </a:solidFill>
              </a:rPr>
              <a:t>, </a:t>
            </a:r>
            <a:r>
              <a:rPr lang="es-ES" sz="2050" i="0" u="none" strike="noStrike" cap="none">
                <a:solidFill>
                  <a:srgbClr val="DD0000"/>
                </a:solidFill>
              </a:rPr>
              <a:t>'is'</a:t>
            </a:r>
            <a:r>
              <a:rPr lang="es-ES" sz="2050" i="0" u="none" strike="noStrike" cap="none">
                <a:solidFill>
                  <a:srgbClr val="007700"/>
                </a:solidFill>
              </a:rPr>
              <a:t>); </a:t>
            </a:r>
            <a:r>
              <a:rPr lang="es-ES" sz="2050" i="0" u="none" strike="noStrike" cap="none">
                <a:solidFill>
                  <a:srgbClr val="FF8000"/>
                </a:solidFill>
              </a:rPr>
              <a:t>// 2</a:t>
            </a:r>
            <a:endParaRPr sz="2050" i="0" u="none" strike="noStrike" cap="none">
              <a:solidFill>
                <a:srgbClr val="FF8000"/>
              </a:solidFill>
            </a:endParaRPr>
          </a:p>
          <a:p>
            <a:pPr marL="0" marR="0" lvl="0" indent="0" algn="l" rtl="0">
              <a:lnSpc>
                <a:spcPct val="100000"/>
              </a:lnSpc>
              <a:spcBef>
                <a:spcPts val="1200"/>
              </a:spcBef>
              <a:spcAft>
                <a:spcPts val="0"/>
              </a:spcAft>
              <a:buClr>
                <a:srgbClr val="000000"/>
              </a:buClr>
              <a:buSzPts val="1050"/>
              <a:buFont typeface="Arial"/>
              <a:buNone/>
            </a:pPr>
            <a:r>
              <a:rPr lang="es-ES" sz="2050">
                <a:solidFill>
                  <a:srgbClr val="007700"/>
                </a:solidFill>
              </a:rPr>
              <a:t>echo </a:t>
            </a:r>
            <a:r>
              <a:rPr lang="es-ES" sz="2050">
                <a:solidFill>
                  <a:srgbClr val="0000BB"/>
                </a:solidFill>
              </a:rPr>
              <a:t>substr_count</a:t>
            </a:r>
            <a:r>
              <a:rPr lang="es-ES" sz="2050">
                <a:solidFill>
                  <a:srgbClr val="007700"/>
                </a:solidFill>
              </a:rPr>
              <a:t>(</a:t>
            </a:r>
            <a:r>
              <a:rPr lang="es-ES" sz="2050">
                <a:solidFill>
                  <a:srgbClr val="0000BB"/>
                </a:solidFill>
              </a:rPr>
              <a:t>$text</a:t>
            </a:r>
            <a:r>
              <a:rPr lang="es-ES" sz="2050">
                <a:solidFill>
                  <a:srgbClr val="007700"/>
                </a:solidFill>
              </a:rPr>
              <a:t>, </a:t>
            </a:r>
            <a:r>
              <a:rPr lang="es-ES" sz="2050">
                <a:solidFill>
                  <a:srgbClr val="DD0000"/>
                </a:solidFill>
              </a:rPr>
              <a:t>'is'</a:t>
            </a:r>
            <a:r>
              <a:rPr lang="es-ES" sz="2050">
                <a:solidFill>
                  <a:srgbClr val="007700"/>
                </a:solidFill>
              </a:rPr>
              <a:t>, </a:t>
            </a:r>
            <a:r>
              <a:rPr lang="es-ES" sz="2050">
                <a:solidFill>
                  <a:srgbClr val="0000BB"/>
                </a:solidFill>
              </a:rPr>
              <a:t>3</a:t>
            </a:r>
            <a:r>
              <a:rPr lang="es-ES" sz="2050">
                <a:solidFill>
                  <a:srgbClr val="007700"/>
                </a:solidFill>
              </a:rPr>
              <a:t>);</a:t>
            </a:r>
            <a:r>
              <a:rPr lang="es-ES" sz="2050" i="0" u="none" strike="noStrike" cap="none">
                <a:solidFill>
                  <a:srgbClr val="FF8000"/>
                </a:solidFill>
              </a:rPr>
              <a:t>// el string es reducido a 's is a test', así que muestra 1</a:t>
            </a:r>
            <a:endParaRPr sz="2050" i="0" u="none" strike="noStrike" cap="none">
              <a:solidFill>
                <a:srgbClr val="007700"/>
              </a:solidFill>
            </a:endParaRPr>
          </a:p>
          <a:p>
            <a:pPr marL="0" marR="0" lvl="0" indent="0" algn="l" rtl="0">
              <a:lnSpc>
                <a:spcPct val="100000"/>
              </a:lnSpc>
              <a:spcBef>
                <a:spcPts val="1200"/>
              </a:spcBef>
              <a:spcAft>
                <a:spcPts val="0"/>
              </a:spcAft>
              <a:buClr>
                <a:srgbClr val="000000"/>
              </a:buClr>
              <a:buSzPts val="1050"/>
              <a:buFont typeface="Arial"/>
              <a:buNone/>
            </a:pPr>
            <a:r>
              <a:rPr lang="es-ES" sz="2050">
                <a:solidFill>
                  <a:srgbClr val="007700"/>
                </a:solidFill>
              </a:rPr>
              <a:t>echo </a:t>
            </a:r>
            <a:r>
              <a:rPr lang="es-ES" sz="2050">
                <a:solidFill>
                  <a:srgbClr val="0000BB"/>
                </a:solidFill>
              </a:rPr>
              <a:t>substr_count</a:t>
            </a:r>
            <a:r>
              <a:rPr lang="es-ES" sz="2050">
                <a:solidFill>
                  <a:srgbClr val="007700"/>
                </a:solidFill>
              </a:rPr>
              <a:t>(</a:t>
            </a:r>
            <a:r>
              <a:rPr lang="es-ES" sz="2050">
                <a:solidFill>
                  <a:srgbClr val="0000BB"/>
                </a:solidFill>
              </a:rPr>
              <a:t>$text</a:t>
            </a:r>
            <a:r>
              <a:rPr lang="es-ES" sz="2050">
                <a:solidFill>
                  <a:srgbClr val="007700"/>
                </a:solidFill>
              </a:rPr>
              <a:t>, </a:t>
            </a:r>
            <a:r>
              <a:rPr lang="es-ES" sz="2050">
                <a:solidFill>
                  <a:srgbClr val="DD0000"/>
                </a:solidFill>
              </a:rPr>
              <a:t>'is'</a:t>
            </a:r>
            <a:r>
              <a:rPr lang="es-ES" sz="2050">
                <a:solidFill>
                  <a:srgbClr val="007700"/>
                </a:solidFill>
              </a:rPr>
              <a:t>, </a:t>
            </a:r>
            <a:r>
              <a:rPr lang="es-ES" sz="2050">
                <a:solidFill>
                  <a:srgbClr val="0000BB"/>
                </a:solidFill>
              </a:rPr>
              <a:t>3</a:t>
            </a:r>
            <a:r>
              <a:rPr lang="es-ES" sz="2050">
                <a:solidFill>
                  <a:srgbClr val="007700"/>
                </a:solidFill>
              </a:rPr>
              <a:t>, </a:t>
            </a:r>
            <a:r>
              <a:rPr lang="es-ES" sz="2050">
                <a:solidFill>
                  <a:srgbClr val="0000BB"/>
                </a:solidFill>
              </a:rPr>
              <a:t>3</a:t>
            </a:r>
            <a:r>
              <a:rPr lang="es-ES" sz="2050">
                <a:solidFill>
                  <a:srgbClr val="007700"/>
                </a:solidFill>
              </a:rPr>
              <a:t>);</a:t>
            </a:r>
            <a:r>
              <a:rPr lang="es-ES" sz="2050" i="0" u="none" strike="noStrike" cap="none">
                <a:solidFill>
                  <a:srgbClr val="FF8000"/>
                </a:solidFill>
              </a:rPr>
              <a:t>// el texto es reducido a 's i', así que muestra 0</a:t>
            </a:r>
            <a:endParaRPr sz="2050" i="0" u="none" strike="noStrike" cap="none">
              <a:solidFill>
                <a:srgbClr val="007700"/>
              </a:solidFill>
            </a:endParaRPr>
          </a:p>
          <a:p>
            <a:pPr marL="0" marR="0" lvl="0" indent="0" algn="l" rtl="0">
              <a:lnSpc>
                <a:spcPct val="100000"/>
              </a:lnSpc>
              <a:spcBef>
                <a:spcPts val="1200"/>
              </a:spcBef>
              <a:spcAft>
                <a:spcPts val="0"/>
              </a:spcAft>
              <a:buClr>
                <a:srgbClr val="000000"/>
              </a:buClr>
              <a:buSzPts val="1050"/>
              <a:buFont typeface="Arial"/>
              <a:buNone/>
            </a:pPr>
            <a:r>
              <a:rPr lang="es-ES" sz="2050">
                <a:solidFill>
                  <a:srgbClr val="007700"/>
                </a:solidFill>
              </a:rPr>
              <a:t>echo </a:t>
            </a:r>
            <a:r>
              <a:rPr lang="es-ES" sz="2050">
                <a:solidFill>
                  <a:srgbClr val="0000BB"/>
                </a:solidFill>
              </a:rPr>
              <a:t>substr_count</a:t>
            </a:r>
            <a:r>
              <a:rPr lang="es-ES" sz="2050">
                <a:solidFill>
                  <a:srgbClr val="007700"/>
                </a:solidFill>
              </a:rPr>
              <a:t>(</a:t>
            </a:r>
            <a:r>
              <a:rPr lang="es-ES" sz="2050">
                <a:solidFill>
                  <a:srgbClr val="0000BB"/>
                </a:solidFill>
              </a:rPr>
              <a:t>$text</a:t>
            </a:r>
            <a:r>
              <a:rPr lang="es-ES" sz="2050">
                <a:solidFill>
                  <a:srgbClr val="007700"/>
                </a:solidFill>
              </a:rPr>
              <a:t>, </a:t>
            </a:r>
            <a:r>
              <a:rPr lang="es-ES" sz="2050">
                <a:solidFill>
                  <a:srgbClr val="DD0000"/>
                </a:solidFill>
              </a:rPr>
              <a:t>'is'</a:t>
            </a:r>
            <a:r>
              <a:rPr lang="es-ES" sz="2050">
                <a:solidFill>
                  <a:srgbClr val="007700"/>
                </a:solidFill>
              </a:rPr>
              <a:t>, </a:t>
            </a:r>
            <a:r>
              <a:rPr lang="es-ES" sz="2050">
                <a:solidFill>
                  <a:srgbClr val="0000BB"/>
                </a:solidFill>
              </a:rPr>
              <a:t>5</a:t>
            </a:r>
            <a:r>
              <a:rPr lang="es-ES" sz="2050">
                <a:solidFill>
                  <a:srgbClr val="007700"/>
                </a:solidFill>
              </a:rPr>
              <a:t>, </a:t>
            </a:r>
            <a:r>
              <a:rPr lang="es-ES" sz="2050">
                <a:solidFill>
                  <a:srgbClr val="0000BB"/>
                </a:solidFill>
              </a:rPr>
              <a:t>10</a:t>
            </a:r>
            <a:r>
              <a:rPr lang="es-ES" sz="2050">
                <a:solidFill>
                  <a:srgbClr val="007700"/>
                </a:solidFill>
              </a:rPr>
              <a:t>);</a:t>
            </a:r>
            <a:r>
              <a:rPr lang="es-ES" sz="2050" i="0" u="none" strike="noStrike" cap="none">
                <a:solidFill>
                  <a:srgbClr val="FF8000"/>
                </a:solidFill>
              </a:rPr>
              <a:t>// genera una advertencia debido a que 5+10 &gt; 14</a:t>
            </a:r>
            <a:endParaRPr sz="2050">
              <a:solidFill>
                <a:srgbClr val="FF8000"/>
              </a:solidFill>
            </a:endParaRPr>
          </a:p>
          <a:p>
            <a:pPr marL="0" marR="0" lvl="0" indent="0" algn="l" rtl="0">
              <a:lnSpc>
                <a:spcPct val="100000"/>
              </a:lnSpc>
              <a:spcBef>
                <a:spcPts val="1200"/>
              </a:spcBef>
              <a:spcAft>
                <a:spcPts val="0"/>
              </a:spcAft>
              <a:buClr>
                <a:srgbClr val="000000"/>
              </a:buClr>
              <a:buSzPts val="1050"/>
              <a:buFont typeface="Arial"/>
              <a:buNone/>
            </a:pPr>
            <a:r>
              <a:rPr lang="es-ES" sz="2050">
                <a:solidFill>
                  <a:srgbClr val="007700"/>
                </a:solidFill>
              </a:rPr>
              <a:t>echo </a:t>
            </a:r>
            <a:r>
              <a:rPr lang="es-ES" sz="2050">
                <a:solidFill>
                  <a:srgbClr val="0000BB"/>
                </a:solidFill>
              </a:rPr>
              <a:t>substr_count</a:t>
            </a:r>
            <a:r>
              <a:rPr lang="es-ES" sz="2050">
                <a:solidFill>
                  <a:srgbClr val="007700"/>
                </a:solidFill>
              </a:rPr>
              <a:t>(</a:t>
            </a:r>
            <a:r>
              <a:rPr lang="es-ES" sz="2050">
                <a:solidFill>
                  <a:schemeClr val="dk1"/>
                </a:solidFill>
              </a:rPr>
              <a:t>"Hello World. The world is nice",</a:t>
            </a:r>
            <a:r>
              <a:rPr lang="es-ES" sz="2050">
                <a:solidFill>
                  <a:srgbClr val="DD0000"/>
                </a:solidFill>
              </a:rPr>
              <a:t>"world"</a:t>
            </a:r>
            <a:r>
              <a:rPr lang="es-ES" sz="2050">
                <a:solidFill>
                  <a:srgbClr val="007700"/>
                </a:solidFill>
              </a:rPr>
              <a:t>);</a:t>
            </a:r>
            <a:r>
              <a:rPr lang="es-ES" sz="2050">
                <a:solidFill>
                  <a:srgbClr val="FF8000"/>
                </a:solidFill>
              </a:rPr>
              <a:t>// 1 porque es casesensitive</a:t>
            </a:r>
            <a:endParaRPr sz="2050" i="0" u="none" strike="noStrike" cap="none">
              <a:solidFill>
                <a:srgbClr val="007700"/>
              </a:solidFill>
            </a:endParaRPr>
          </a:p>
          <a:p>
            <a:pPr marL="0" marR="0" lvl="0" indent="0" algn="l" rtl="0">
              <a:lnSpc>
                <a:spcPct val="100000"/>
              </a:lnSpc>
              <a:spcBef>
                <a:spcPts val="1200"/>
              </a:spcBef>
              <a:spcAft>
                <a:spcPts val="0"/>
              </a:spcAft>
              <a:buClr>
                <a:srgbClr val="000000"/>
              </a:buClr>
              <a:buSzPts val="1050"/>
              <a:buFont typeface="Arial"/>
              <a:buNone/>
            </a:pPr>
            <a:r>
              <a:rPr lang="es-ES" sz="2050" i="0" u="none" strike="noStrike" cap="none">
                <a:solidFill>
                  <a:srgbClr val="0000BB"/>
                </a:solidFill>
              </a:rPr>
              <a:t>?&gt;</a:t>
            </a:r>
            <a:endParaRPr sz="2400" i="0" u="none" strike="noStrike" cap="none">
              <a:solidFill>
                <a:srgbClr val="000000"/>
              </a:solidFill>
            </a:endParaRPr>
          </a:p>
        </p:txBody>
      </p:sp>
      <p:sp>
        <p:nvSpPr>
          <p:cNvPr id="192" name="Google Shape;192;g267dcef5d75_1_0"/>
          <p:cNvSpPr txBox="1"/>
          <p:nvPr/>
        </p:nvSpPr>
        <p:spPr>
          <a:xfrm>
            <a:off x="464675" y="715800"/>
            <a:ext cx="11753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000"/>
              <a:t>Indica cual sería la salida en cada caso</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196"/>
        <p:cNvGrpSpPr/>
        <p:nvPr/>
      </p:nvGrpSpPr>
      <p:grpSpPr>
        <a:xfrm>
          <a:off x="0" y="0"/>
          <a:ext cx="0" cy="0"/>
          <a:chOff x="0" y="0"/>
          <a:chExt cx="0" cy="0"/>
        </a:xfrm>
      </p:grpSpPr>
      <p:sp>
        <p:nvSpPr>
          <p:cNvPr id="197" name="Google Shape;197;g27d41c7e044_0_0"/>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198" name="Google Shape;198;g27d41c7e044_0_0"/>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199" name="Google Shape;199;g27d41c7e044_0_0"/>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00" name="Google Shape;200;g27d41c7e044_0_0"/>
          <p:cNvSpPr txBox="1">
            <a:spLocks noGrp="1"/>
          </p:cNvSpPr>
          <p:nvPr>
            <p:ph type="ctrTitle"/>
          </p:nvPr>
        </p:nvSpPr>
        <p:spPr>
          <a:xfrm>
            <a:off x="6485800" y="0"/>
            <a:ext cx="30687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Condicionales</a:t>
            </a:r>
            <a:endParaRPr sz="3600">
              <a:solidFill>
                <a:srgbClr val="0070C0"/>
              </a:solidFill>
              <a:latin typeface="Arial"/>
              <a:ea typeface="Arial"/>
              <a:cs typeface="Arial"/>
              <a:sym typeface="Arial"/>
            </a:endParaRPr>
          </a:p>
        </p:txBody>
      </p:sp>
      <p:sp>
        <p:nvSpPr>
          <p:cNvPr id="201" name="Google Shape;201;g27d41c7e044_0_0"/>
          <p:cNvSpPr txBox="1"/>
          <p:nvPr/>
        </p:nvSpPr>
        <p:spPr>
          <a:xfrm>
            <a:off x="646600" y="50100"/>
            <a:ext cx="58392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2.4</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2-4</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202" name="Google Shape;202;g27d41c7e044_0_0"/>
          <p:cNvSpPr txBox="1"/>
          <p:nvPr/>
        </p:nvSpPr>
        <p:spPr>
          <a:xfrm>
            <a:off x="646600" y="715800"/>
            <a:ext cx="10561200" cy="258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600"/>
              <a:t>Crea una variable que represente la edad y compruebe si es mayor que 18. </a:t>
            </a:r>
            <a:endParaRPr sz="2600"/>
          </a:p>
          <a:p>
            <a:pPr marL="457200" lvl="0" indent="-393700" algn="l" rtl="0">
              <a:spcBef>
                <a:spcPts val="0"/>
              </a:spcBef>
              <a:spcAft>
                <a:spcPts val="0"/>
              </a:spcAft>
              <a:buSzPts val="2600"/>
              <a:buChar char="●"/>
            </a:pPr>
            <a:r>
              <a:rPr lang="es-ES" sz="2600"/>
              <a:t>En caso afirmativo el programa mostrará el mensaje “Acceso permitido”. </a:t>
            </a:r>
            <a:endParaRPr sz="2600"/>
          </a:p>
          <a:p>
            <a:pPr marL="457200" lvl="0" indent="-393700" algn="l" rtl="0">
              <a:spcBef>
                <a:spcPts val="0"/>
              </a:spcBef>
              <a:spcAft>
                <a:spcPts val="0"/>
              </a:spcAft>
              <a:buSzPts val="2600"/>
              <a:buChar char="●"/>
            </a:pPr>
            <a:r>
              <a:rPr lang="es-ES" sz="2600"/>
              <a:t>En caso de que sea menor, el mensaje “Eres menor de edad, no puedes acceder de momento.</a:t>
            </a:r>
            <a:endParaRPr sz="2600"/>
          </a:p>
        </p:txBody>
      </p:sp>
      <p:sp>
        <p:nvSpPr>
          <p:cNvPr id="203" name="Google Shape;203;g27d41c7e044_0_0"/>
          <p:cNvSpPr txBox="1"/>
          <p:nvPr/>
        </p:nvSpPr>
        <p:spPr>
          <a:xfrm>
            <a:off x="861450" y="3351900"/>
            <a:ext cx="58392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2.5</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2-5</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204" name="Google Shape;204;g27d41c7e044_0_0"/>
          <p:cNvSpPr txBox="1"/>
          <p:nvPr/>
        </p:nvSpPr>
        <p:spPr>
          <a:xfrm>
            <a:off x="861450" y="4100500"/>
            <a:ext cx="10561200" cy="218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600"/>
              <a:t>Guarda un número en  una variable. </a:t>
            </a:r>
            <a:endParaRPr sz="2600"/>
          </a:p>
          <a:p>
            <a:pPr marL="457200" lvl="0" indent="-393700" algn="l" rtl="0">
              <a:spcBef>
                <a:spcPts val="0"/>
              </a:spcBef>
              <a:spcAft>
                <a:spcPts val="0"/>
              </a:spcAft>
              <a:buSzPts val="2600"/>
              <a:buChar char="●"/>
            </a:pPr>
            <a:r>
              <a:rPr lang="es-ES" sz="2600"/>
              <a:t>Si el número está comprendido entre 0 y 10, se mostrará por pantalla. (Por ejemplo, el numero es 2). </a:t>
            </a:r>
            <a:endParaRPr sz="2600"/>
          </a:p>
          <a:p>
            <a:pPr marL="457200" lvl="0" indent="-393700" algn="l" rtl="0">
              <a:spcBef>
                <a:spcPts val="0"/>
              </a:spcBef>
              <a:spcAft>
                <a:spcPts val="0"/>
              </a:spcAft>
              <a:buSzPts val="2600"/>
              <a:buChar char="●"/>
            </a:pPr>
            <a:r>
              <a:rPr lang="es-ES" sz="2600"/>
              <a:t>En caso contrario mostrará el mensaje: “El número no está comprendido entre 0 y 10.</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08"/>
        <p:cNvGrpSpPr/>
        <p:nvPr/>
      </p:nvGrpSpPr>
      <p:grpSpPr>
        <a:xfrm>
          <a:off x="0" y="0"/>
          <a:ext cx="0" cy="0"/>
          <a:chOff x="0" y="0"/>
          <a:chExt cx="0" cy="0"/>
        </a:xfrm>
      </p:grpSpPr>
      <p:sp>
        <p:nvSpPr>
          <p:cNvPr id="209" name="Google Shape;209;g27d41c7e044_0_11"/>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210" name="Google Shape;210;g27d41c7e044_0_11"/>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211" name="Google Shape;211;g27d41c7e044_0_11"/>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12" name="Google Shape;212;g27d41c7e044_0_11"/>
          <p:cNvSpPr txBox="1">
            <a:spLocks noGrp="1"/>
          </p:cNvSpPr>
          <p:nvPr>
            <p:ph type="ctrTitle"/>
          </p:nvPr>
        </p:nvSpPr>
        <p:spPr>
          <a:xfrm>
            <a:off x="6485800" y="0"/>
            <a:ext cx="30687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Condicionales</a:t>
            </a:r>
            <a:endParaRPr sz="3600">
              <a:solidFill>
                <a:srgbClr val="0070C0"/>
              </a:solidFill>
              <a:latin typeface="Arial"/>
              <a:ea typeface="Arial"/>
              <a:cs typeface="Arial"/>
              <a:sym typeface="Arial"/>
            </a:endParaRPr>
          </a:p>
        </p:txBody>
      </p:sp>
      <p:sp>
        <p:nvSpPr>
          <p:cNvPr id="213" name="Google Shape;213;g27d41c7e044_0_11"/>
          <p:cNvSpPr txBox="1"/>
          <p:nvPr/>
        </p:nvSpPr>
        <p:spPr>
          <a:xfrm>
            <a:off x="646600" y="50100"/>
            <a:ext cx="58392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2.4</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2-4</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17"/>
        <p:cNvGrpSpPr/>
        <p:nvPr/>
      </p:nvGrpSpPr>
      <p:grpSpPr>
        <a:xfrm>
          <a:off x="0" y="0"/>
          <a:ext cx="0" cy="0"/>
          <a:chOff x="0" y="0"/>
          <a:chExt cx="0" cy="0"/>
        </a:xfrm>
      </p:grpSpPr>
      <p:sp>
        <p:nvSpPr>
          <p:cNvPr id="218" name="Google Shape;218;g261097770e5_0_58"/>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219" name="Google Shape;219;g261097770e5_0_58"/>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220" name="Google Shape;220;g261097770e5_0_58"/>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21" name="Google Shape;221;g261097770e5_0_58"/>
          <p:cNvSpPr txBox="1">
            <a:spLocks noGrp="1"/>
          </p:cNvSpPr>
          <p:nvPr>
            <p:ph type="ctrTitle"/>
          </p:nvPr>
        </p:nvSpPr>
        <p:spPr>
          <a:xfrm>
            <a:off x="0" y="436593"/>
            <a:ext cx="115875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Funciones</a:t>
            </a:r>
            <a:endParaRPr sz="3600">
              <a:solidFill>
                <a:srgbClr val="0070C0"/>
              </a:solidFill>
              <a:latin typeface="Arial"/>
              <a:ea typeface="Arial"/>
              <a:cs typeface="Arial"/>
              <a:sym typeface="Arial"/>
            </a:endParaRPr>
          </a:p>
        </p:txBody>
      </p:sp>
      <p:sp>
        <p:nvSpPr>
          <p:cNvPr id="222" name="Google Shape;222;g261097770e5_0_58"/>
          <p:cNvSpPr txBox="1"/>
          <p:nvPr/>
        </p:nvSpPr>
        <p:spPr>
          <a:xfrm>
            <a:off x="436675" y="1768000"/>
            <a:ext cx="10874700" cy="14775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1800"/>
              </a:spcBef>
              <a:spcAft>
                <a:spcPts val="0"/>
              </a:spcAft>
              <a:buClr>
                <a:srgbClr val="000000"/>
              </a:buClr>
              <a:buSzPts val="2800"/>
              <a:buFont typeface="Arial"/>
              <a:buChar char="●"/>
            </a:pPr>
            <a:r>
              <a:rPr lang="es-ES" sz="2800">
                <a:solidFill>
                  <a:schemeClr val="dk1"/>
                </a:solidFill>
              </a:rPr>
              <a:t>Utiliza alguna de las funciones vistas anteriormente para comprobar que una dirección de email dada, contiene el símbolo @ y el símbolo punto</a:t>
            </a:r>
            <a:r>
              <a:rPr lang="es-ES" sz="2800" b="0" i="0" u="none" strike="noStrike" cap="none">
                <a:solidFill>
                  <a:schemeClr val="dk1"/>
                </a:solidFill>
                <a:latin typeface="Arial"/>
                <a:ea typeface="Arial"/>
                <a:cs typeface="Arial"/>
                <a:sym typeface="Arial"/>
              </a:rPr>
              <a:t>.</a:t>
            </a:r>
            <a:endParaRPr sz="2800" b="0" i="0" u="none" strike="noStrike" cap="none">
              <a:solidFill>
                <a:schemeClr val="dk1"/>
              </a:solidFill>
              <a:latin typeface="Arial"/>
              <a:ea typeface="Arial"/>
              <a:cs typeface="Arial"/>
              <a:sym typeface="Arial"/>
            </a:endParaRPr>
          </a:p>
        </p:txBody>
      </p:sp>
      <p:sp>
        <p:nvSpPr>
          <p:cNvPr id="223" name="Google Shape;223;g261097770e5_0_58"/>
          <p:cNvSpPr txBox="1"/>
          <p:nvPr/>
        </p:nvSpPr>
        <p:spPr>
          <a:xfrm>
            <a:off x="884550" y="1152400"/>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2.13</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2-6</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224" name="Google Shape;224;g261097770e5_0_58"/>
          <p:cNvSpPr txBox="1"/>
          <p:nvPr/>
        </p:nvSpPr>
        <p:spPr>
          <a:xfrm>
            <a:off x="503900" y="3790338"/>
            <a:ext cx="4775400" cy="19086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1800"/>
              </a:spcBef>
              <a:spcAft>
                <a:spcPts val="0"/>
              </a:spcAft>
              <a:buClr>
                <a:schemeClr val="dk1"/>
              </a:buClr>
              <a:buSzPts val="2800"/>
              <a:buFont typeface="Arial"/>
              <a:buChar char="●"/>
            </a:pPr>
            <a:r>
              <a:rPr lang="es-ES" sz="2800">
                <a:solidFill>
                  <a:schemeClr val="dk1"/>
                </a:solidFill>
              </a:rPr>
              <a:t>A continuación, extrae la parte del usuario y la parte del dominio, tal y como se muestra</a:t>
            </a:r>
            <a:endParaRPr sz="2800" b="0" i="0" u="none" strike="noStrike" cap="none">
              <a:solidFill>
                <a:schemeClr val="dk1"/>
              </a:solidFill>
              <a:latin typeface="Arial"/>
              <a:ea typeface="Arial"/>
              <a:cs typeface="Arial"/>
              <a:sym typeface="Arial"/>
            </a:endParaRPr>
          </a:p>
        </p:txBody>
      </p:sp>
      <p:pic>
        <p:nvPicPr>
          <p:cNvPr id="225" name="Google Shape;225;g261097770e5_0_58"/>
          <p:cNvPicPr preferRelativeResize="0"/>
          <p:nvPr/>
        </p:nvPicPr>
        <p:blipFill>
          <a:blip r:embed="rId4">
            <a:alphaModFix/>
          </a:blip>
          <a:stretch>
            <a:fillRect/>
          </a:stretch>
        </p:blipFill>
        <p:spPr>
          <a:xfrm>
            <a:off x="6411425" y="4181675"/>
            <a:ext cx="4143375" cy="952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29"/>
        <p:cNvGrpSpPr/>
        <p:nvPr/>
      </p:nvGrpSpPr>
      <p:grpSpPr>
        <a:xfrm>
          <a:off x="0" y="0"/>
          <a:ext cx="0" cy="0"/>
          <a:chOff x="0" y="0"/>
          <a:chExt cx="0" cy="0"/>
        </a:xfrm>
      </p:grpSpPr>
      <p:sp>
        <p:nvSpPr>
          <p:cNvPr id="230" name="Google Shape;230;g261097770e5_0_69"/>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231" name="Google Shape;231;g261097770e5_0_69"/>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232" name="Google Shape;232;g261097770e5_0_69"/>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33" name="Google Shape;233;g261097770e5_0_69"/>
          <p:cNvSpPr txBox="1">
            <a:spLocks noGrp="1"/>
          </p:cNvSpPr>
          <p:nvPr>
            <p:ph type="ctrTitle"/>
          </p:nvPr>
        </p:nvSpPr>
        <p:spPr>
          <a:xfrm>
            <a:off x="6818825" y="0"/>
            <a:ext cx="27357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Funciones</a:t>
            </a:r>
            <a:endParaRPr sz="3600">
              <a:solidFill>
                <a:srgbClr val="0070C0"/>
              </a:solidFill>
              <a:latin typeface="Arial"/>
              <a:ea typeface="Arial"/>
              <a:cs typeface="Arial"/>
              <a:sym typeface="Arial"/>
            </a:endParaRPr>
          </a:p>
        </p:txBody>
      </p:sp>
      <p:sp>
        <p:nvSpPr>
          <p:cNvPr id="234" name="Google Shape;234;g261097770e5_0_69"/>
          <p:cNvSpPr txBox="1"/>
          <p:nvPr/>
        </p:nvSpPr>
        <p:spPr>
          <a:xfrm>
            <a:off x="646600" y="228675"/>
            <a:ext cx="4842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13</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2-6</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pic>
        <p:nvPicPr>
          <p:cNvPr id="235" name="Google Shape;235;g261097770e5_0_69"/>
          <p:cNvPicPr preferRelativeResize="0"/>
          <p:nvPr/>
        </p:nvPicPr>
        <p:blipFill>
          <a:blip r:embed="rId4">
            <a:alphaModFix/>
          </a:blip>
          <a:stretch>
            <a:fillRect/>
          </a:stretch>
        </p:blipFill>
        <p:spPr>
          <a:xfrm>
            <a:off x="6411425" y="4181675"/>
            <a:ext cx="4143375" cy="952500"/>
          </a:xfrm>
          <a:prstGeom prst="rect">
            <a:avLst/>
          </a:prstGeom>
          <a:noFill/>
          <a:ln>
            <a:noFill/>
          </a:ln>
        </p:spPr>
      </p:pic>
      <p:sp>
        <p:nvSpPr>
          <p:cNvPr id="236" name="Google Shape;236;g261097770e5_0_69"/>
          <p:cNvSpPr txBox="1"/>
          <p:nvPr/>
        </p:nvSpPr>
        <p:spPr>
          <a:xfrm>
            <a:off x="646600" y="715800"/>
            <a:ext cx="8372400" cy="6071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1050">
                <a:solidFill>
                  <a:srgbClr val="222222"/>
                </a:solidFill>
              </a:rPr>
              <a:t>   </a:t>
            </a:r>
            <a:r>
              <a:rPr lang="es-ES" sz="2350">
                <a:solidFill>
                  <a:srgbClr val="FF0000"/>
                </a:solidFill>
              </a:rPr>
              <a:t>&lt;?php</a:t>
            </a:r>
            <a:endParaRPr sz="1050">
              <a:solidFill>
                <a:srgbClr val="222222"/>
              </a:solidFill>
            </a:endParaRPr>
          </a:p>
          <a:p>
            <a:pPr marL="0" lvl="0" indent="0" algn="l" rtl="0">
              <a:lnSpc>
                <a:spcPct val="135714"/>
              </a:lnSpc>
              <a:spcBef>
                <a:spcPts val="0"/>
              </a:spcBef>
              <a:spcAft>
                <a:spcPts val="0"/>
              </a:spcAft>
              <a:buNone/>
            </a:pPr>
            <a:r>
              <a:rPr lang="es-ES" sz="2050" b="1">
                <a:solidFill>
                  <a:srgbClr val="336699"/>
                </a:solidFill>
              </a:rPr>
              <a:t>$email</a:t>
            </a:r>
            <a:r>
              <a:rPr lang="es-ES" sz="1950">
                <a:solidFill>
                  <a:schemeClr val="dk1"/>
                </a:solidFill>
              </a:rPr>
              <a:t> =  "elekue@fptxurdinaga.com"</a:t>
            </a:r>
            <a:r>
              <a:rPr lang="es-ES" sz="1050">
                <a:solidFill>
                  <a:srgbClr val="222222"/>
                </a:solidFill>
              </a:rPr>
              <a:t>; // asignamos dirección de email  a la variable</a:t>
            </a:r>
            <a:endParaRPr sz="1050">
              <a:solidFill>
                <a:srgbClr val="222222"/>
              </a:solidFill>
            </a:endParaRPr>
          </a:p>
          <a:p>
            <a:pPr marL="0" lvl="0" indent="0" algn="l" rtl="0">
              <a:lnSpc>
                <a:spcPct val="135714"/>
              </a:lnSpc>
              <a:spcBef>
                <a:spcPts val="0"/>
              </a:spcBef>
              <a:spcAft>
                <a:spcPts val="0"/>
              </a:spcAft>
              <a:buNone/>
            </a:pPr>
            <a:r>
              <a:rPr lang="es-ES" sz="1950" b="1">
                <a:solidFill>
                  <a:srgbClr val="20124D"/>
                </a:solidFill>
              </a:rPr>
              <a:t>print</a:t>
            </a:r>
            <a:r>
              <a:rPr lang="es-ES" sz="1950">
                <a:solidFill>
                  <a:schemeClr val="dk1"/>
                </a:solidFill>
              </a:rPr>
              <a:t> "&lt;br&gt;";</a:t>
            </a:r>
            <a:endParaRPr sz="1950">
              <a:solidFill>
                <a:schemeClr val="dk1"/>
              </a:solidFill>
            </a:endParaRPr>
          </a:p>
          <a:p>
            <a:pPr marL="0" marR="0" lvl="0" indent="0" algn="l" rtl="0">
              <a:lnSpc>
                <a:spcPct val="135714"/>
              </a:lnSpc>
              <a:spcBef>
                <a:spcPts val="0"/>
              </a:spcBef>
              <a:spcAft>
                <a:spcPts val="0"/>
              </a:spcAft>
              <a:buNone/>
            </a:pPr>
            <a:r>
              <a:rPr lang="es-ES" sz="1950">
                <a:solidFill>
                  <a:schemeClr val="dk1"/>
                </a:solidFill>
              </a:rPr>
              <a:t>if (</a:t>
            </a:r>
            <a:r>
              <a:rPr lang="es-ES" sz="1950" b="1">
                <a:solidFill>
                  <a:srgbClr val="FF9900"/>
                </a:solidFill>
              </a:rPr>
              <a:t>strpos</a:t>
            </a:r>
            <a:r>
              <a:rPr lang="es-ES" sz="2050" b="1">
                <a:solidFill>
                  <a:srgbClr val="336699"/>
                </a:solidFill>
              </a:rPr>
              <a:t>($email</a:t>
            </a:r>
            <a:r>
              <a:rPr lang="es-ES" sz="1950">
                <a:solidFill>
                  <a:schemeClr val="dk1"/>
                </a:solidFill>
              </a:rPr>
              <a:t>, '@'</a:t>
            </a:r>
            <a:r>
              <a:rPr lang="es-ES" sz="1050">
                <a:solidFill>
                  <a:srgbClr val="222222"/>
                </a:solidFill>
              </a:rPr>
              <a:t>) </a:t>
            </a:r>
            <a:r>
              <a:rPr lang="es-ES" sz="1950">
                <a:solidFill>
                  <a:schemeClr val="dk1"/>
                </a:solidFill>
              </a:rPr>
              <a:t>and</a:t>
            </a:r>
            <a:r>
              <a:rPr lang="es-ES" sz="1050">
                <a:solidFill>
                  <a:srgbClr val="222222"/>
                </a:solidFill>
              </a:rPr>
              <a:t> </a:t>
            </a:r>
            <a:r>
              <a:rPr lang="es-ES" sz="1950" b="1">
                <a:solidFill>
                  <a:srgbClr val="FF9900"/>
                </a:solidFill>
              </a:rPr>
              <a:t>strpos</a:t>
            </a:r>
            <a:r>
              <a:rPr lang="es-ES" sz="2050" b="1">
                <a:solidFill>
                  <a:srgbClr val="336699"/>
                </a:solidFill>
              </a:rPr>
              <a:t>($email</a:t>
            </a:r>
            <a:r>
              <a:rPr lang="es-ES" sz="1950">
                <a:solidFill>
                  <a:schemeClr val="dk1"/>
                </a:solidFill>
              </a:rPr>
              <a:t>, '.'))</a:t>
            </a:r>
            <a:endParaRPr sz="1950">
              <a:solidFill>
                <a:schemeClr val="dk1"/>
              </a:solidFill>
            </a:endParaRPr>
          </a:p>
          <a:p>
            <a:pPr marL="0" lvl="0" indent="0" algn="l" rtl="0">
              <a:lnSpc>
                <a:spcPct val="135714"/>
              </a:lnSpc>
              <a:spcBef>
                <a:spcPts val="0"/>
              </a:spcBef>
              <a:spcAft>
                <a:spcPts val="0"/>
              </a:spcAft>
              <a:buNone/>
            </a:pPr>
            <a:r>
              <a:rPr lang="es-ES" sz="1950" b="1">
                <a:solidFill>
                  <a:srgbClr val="20124D"/>
                </a:solidFill>
              </a:rPr>
              <a:t>print</a:t>
            </a:r>
            <a:r>
              <a:rPr lang="es-ES" sz="1950">
                <a:solidFill>
                  <a:schemeClr val="dk1"/>
                </a:solidFill>
              </a:rPr>
              <a:t> "&lt;h2&gt; Correo valido: " .</a:t>
            </a:r>
            <a:r>
              <a:rPr lang="es-ES" sz="2050" b="1">
                <a:solidFill>
                  <a:srgbClr val="336699"/>
                </a:solidFill>
              </a:rPr>
              <a:t> $email</a:t>
            </a:r>
            <a:r>
              <a:rPr lang="es-ES" sz="1050">
                <a:solidFill>
                  <a:srgbClr val="222222"/>
                </a:solidFill>
              </a:rPr>
              <a:t>;</a:t>
            </a:r>
            <a:endParaRPr sz="1050">
              <a:solidFill>
                <a:srgbClr val="222222"/>
              </a:solidFill>
            </a:endParaRPr>
          </a:p>
          <a:p>
            <a:pPr marL="0" lvl="0" indent="0" algn="l" rtl="0">
              <a:lnSpc>
                <a:spcPct val="135714"/>
              </a:lnSpc>
              <a:spcBef>
                <a:spcPts val="0"/>
              </a:spcBef>
              <a:spcAft>
                <a:spcPts val="0"/>
              </a:spcAft>
              <a:buNone/>
            </a:pPr>
            <a:r>
              <a:rPr lang="es-ES" sz="1950">
                <a:solidFill>
                  <a:schemeClr val="dk1"/>
                </a:solidFill>
              </a:rPr>
              <a:t>else</a:t>
            </a:r>
            <a:endParaRPr sz="1050">
              <a:solidFill>
                <a:srgbClr val="222222"/>
              </a:solidFill>
            </a:endParaRPr>
          </a:p>
          <a:p>
            <a:pPr marL="0" lvl="0" indent="0" algn="l" rtl="0">
              <a:lnSpc>
                <a:spcPct val="135714"/>
              </a:lnSpc>
              <a:spcBef>
                <a:spcPts val="0"/>
              </a:spcBef>
              <a:spcAft>
                <a:spcPts val="0"/>
              </a:spcAft>
              <a:buNone/>
            </a:pPr>
            <a:r>
              <a:rPr lang="es-ES" sz="1950" b="1">
                <a:solidFill>
                  <a:srgbClr val="20124D"/>
                </a:solidFill>
              </a:rPr>
              <a:t>print</a:t>
            </a:r>
            <a:r>
              <a:rPr lang="es-ES" sz="1950">
                <a:solidFill>
                  <a:schemeClr val="dk1"/>
                </a:solidFill>
              </a:rPr>
              <a:t> "&lt;h2&gt;Correo no valido";</a:t>
            </a:r>
            <a:endParaRPr sz="1950">
              <a:solidFill>
                <a:schemeClr val="dk1"/>
              </a:solidFill>
            </a:endParaRPr>
          </a:p>
          <a:p>
            <a:pPr marL="0" lvl="0" indent="0" algn="l" rtl="0">
              <a:lnSpc>
                <a:spcPct val="135714"/>
              </a:lnSpc>
              <a:spcBef>
                <a:spcPts val="0"/>
              </a:spcBef>
              <a:spcAft>
                <a:spcPts val="0"/>
              </a:spcAft>
              <a:buNone/>
            </a:pPr>
            <a:r>
              <a:rPr lang="es-ES" sz="1950" b="1">
                <a:solidFill>
                  <a:srgbClr val="20124D"/>
                </a:solidFill>
              </a:rPr>
              <a:t>print</a:t>
            </a:r>
            <a:r>
              <a:rPr lang="es-ES" sz="1950">
                <a:solidFill>
                  <a:schemeClr val="dk1"/>
                </a:solidFill>
              </a:rPr>
              <a:t> "&lt;br&gt;";</a:t>
            </a:r>
            <a:endParaRPr sz="1950">
              <a:solidFill>
                <a:schemeClr val="dk1"/>
              </a:solidFill>
            </a:endParaRPr>
          </a:p>
          <a:p>
            <a:pPr marL="0" lvl="0" indent="0" algn="l" rtl="0">
              <a:lnSpc>
                <a:spcPct val="135714"/>
              </a:lnSpc>
              <a:spcBef>
                <a:spcPts val="0"/>
              </a:spcBef>
              <a:spcAft>
                <a:spcPts val="0"/>
              </a:spcAft>
              <a:buNone/>
            </a:pPr>
            <a:r>
              <a:rPr lang="es-ES" sz="2050" b="1">
                <a:solidFill>
                  <a:srgbClr val="336699"/>
                </a:solidFill>
              </a:rPr>
              <a:t>$domain</a:t>
            </a:r>
            <a:r>
              <a:rPr lang="es-ES" sz="1950">
                <a:solidFill>
                  <a:schemeClr val="dk1"/>
                </a:solidFill>
              </a:rPr>
              <a:t> = </a:t>
            </a:r>
            <a:r>
              <a:rPr lang="es-ES" sz="1950" b="1">
                <a:solidFill>
                  <a:srgbClr val="FF9900"/>
                </a:solidFill>
              </a:rPr>
              <a:t>strstr</a:t>
            </a:r>
            <a:r>
              <a:rPr lang="es-ES" sz="1950">
                <a:solidFill>
                  <a:schemeClr val="dk1"/>
                </a:solidFill>
              </a:rPr>
              <a:t>(</a:t>
            </a:r>
            <a:r>
              <a:rPr lang="es-ES" sz="2050" b="1">
                <a:solidFill>
                  <a:srgbClr val="336699"/>
                </a:solidFill>
              </a:rPr>
              <a:t>$email</a:t>
            </a:r>
            <a:r>
              <a:rPr lang="es-ES" sz="1950">
                <a:solidFill>
                  <a:schemeClr val="dk1"/>
                </a:solidFill>
              </a:rPr>
              <a:t>, '@');</a:t>
            </a:r>
            <a:endParaRPr sz="1050">
              <a:solidFill>
                <a:srgbClr val="222222"/>
              </a:solidFill>
            </a:endParaRPr>
          </a:p>
          <a:p>
            <a:pPr marL="0" marR="0" lvl="0" indent="0" algn="l" rtl="0">
              <a:lnSpc>
                <a:spcPct val="135714"/>
              </a:lnSpc>
              <a:spcBef>
                <a:spcPts val="0"/>
              </a:spcBef>
              <a:spcAft>
                <a:spcPts val="0"/>
              </a:spcAft>
              <a:buNone/>
            </a:pPr>
            <a:r>
              <a:rPr lang="es-ES" sz="1950" b="1">
                <a:solidFill>
                  <a:srgbClr val="20124D"/>
                </a:solidFill>
              </a:rPr>
              <a:t>echo</a:t>
            </a:r>
            <a:r>
              <a:rPr lang="es-ES" sz="1950">
                <a:solidFill>
                  <a:schemeClr val="dk1"/>
                </a:solidFill>
              </a:rPr>
              <a:t> "Dominio: ",</a:t>
            </a:r>
            <a:r>
              <a:rPr lang="es-ES" sz="1050">
                <a:solidFill>
                  <a:srgbClr val="222222"/>
                </a:solidFill>
              </a:rPr>
              <a:t> </a:t>
            </a:r>
            <a:r>
              <a:rPr lang="es-ES" sz="2050" b="1">
                <a:solidFill>
                  <a:srgbClr val="336699"/>
                </a:solidFill>
              </a:rPr>
              <a:t>$domain</a:t>
            </a:r>
            <a:r>
              <a:rPr lang="es-ES" sz="1050">
                <a:solidFill>
                  <a:srgbClr val="222222"/>
                </a:solidFill>
              </a:rPr>
              <a:t>; // mostrará @example.com</a:t>
            </a:r>
            <a:endParaRPr sz="1050">
              <a:solidFill>
                <a:srgbClr val="222222"/>
              </a:solidFill>
            </a:endParaRPr>
          </a:p>
          <a:p>
            <a:pPr marL="0" lvl="0" indent="0" algn="l" rtl="0">
              <a:lnSpc>
                <a:spcPct val="135714"/>
              </a:lnSpc>
              <a:spcBef>
                <a:spcPts val="0"/>
              </a:spcBef>
              <a:spcAft>
                <a:spcPts val="0"/>
              </a:spcAft>
              <a:buNone/>
            </a:pPr>
            <a:r>
              <a:rPr lang="es-ES" sz="1950" b="1">
                <a:solidFill>
                  <a:srgbClr val="20124D"/>
                </a:solidFill>
              </a:rPr>
              <a:t>print</a:t>
            </a:r>
            <a:r>
              <a:rPr lang="es-ES" sz="1950">
                <a:solidFill>
                  <a:schemeClr val="dk1"/>
                </a:solidFill>
              </a:rPr>
              <a:t> "&lt;br&gt;";</a:t>
            </a:r>
            <a:endParaRPr sz="1950">
              <a:solidFill>
                <a:schemeClr val="dk1"/>
              </a:solidFill>
            </a:endParaRPr>
          </a:p>
          <a:p>
            <a:pPr marL="0" lvl="0" indent="0" algn="l" rtl="0">
              <a:lnSpc>
                <a:spcPct val="135714"/>
              </a:lnSpc>
              <a:spcBef>
                <a:spcPts val="0"/>
              </a:spcBef>
              <a:spcAft>
                <a:spcPts val="0"/>
              </a:spcAft>
              <a:buNone/>
            </a:pPr>
            <a:r>
              <a:rPr lang="es-ES" sz="2050" b="1">
                <a:solidFill>
                  <a:srgbClr val="336699"/>
                </a:solidFill>
              </a:rPr>
              <a:t>$user</a:t>
            </a:r>
            <a:r>
              <a:rPr lang="es-ES" sz="1050">
                <a:solidFill>
                  <a:srgbClr val="222222"/>
                </a:solidFill>
              </a:rPr>
              <a:t> </a:t>
            </a:r>
            <a:r>
              <a:rPr lang="es-ES" sz="1950">
                <a:solidFill>
                  <a:schemeClr val="dk1"/>
                </a:solidFill>
              </a:rPr>
              <a:t>=</a:t>
            </a:r>
            <a:r>
              <a:rPr lang="es-ES" sz="1050">
                <a:solidFill>
                  <a:srgbClr val="222222"/>
                </a:solidFill>
              </a:rPr>
              <a:t> </a:t>
            </a:r>
            <a:r>
              <a:rPr lang="es-ES" sz="1950" b="1">
                <a:solidFill>
                  <a:srgbClr val="FF9900"/>
                </a:solidFill>
              </a:rPr>
              <a:t>strstr</a:t>
            </a:r>
            <a:r>
              <a:rPr lang="es-ES" sz="2050" b="1">
                <a:solidFill>
                  <a:srgbClr val="336699"/>
                </a:solidFill>
              </a:rPr>
              <a:t>($email</a:t>
            </a:r>
            <a:r>
              <a:rPr lang="es-ES" sz="1950">
                <a:solidFill>
                  <a:schemeClr val="dk1"/>
                </a:solidFill>
              </a:rPr>
              <a:t>, '@', true)</a:t>
            </a:r>
            <a:r>
              <a:rPr lang="es-ES" sz="1050">
                <a:solidFill>
                  <a:srgbClr val="222222"/>
                </a:solidFill>
              </a:rPr>
              <a:t>; // Desde PHP 5.3.0</a:t>
            </a:r>
            <a:endParaRPr sz="1050">
              <a:solidFill>
                <a:srgbClr val="222222"/>
              </a:solidFill>
            </a:endParaRPr>
          </a:p>
          <a:p>
            <a:pPr marL="0" lvl="0" indent="0" algn="l" rtl="0">
              <a:lnSpc>
                <a:spcPct val="135714"/>
              </a:lnSpc>
              <a:spcBef>
                <a:spcPts val="0"/>
              </a:spcBef>
              <a:spcAft>
                <a:spcPts val="0"/>
              </a:spcAft>
              <a:buNone/>
            </a:pPr>
            <a:r>
              <a:rPr lang="es-ES" sz="1950" b="1">
                <a:solidFill>
                  <a:srgbClr val="20124D"/>
                </a:solidFill>
              </a:rPr>
              <a:t>print</a:t>
            </a:r>
            <a:r>
              <a:rPr lang="es-ES" sz="1950">
                <a:solidFill>
                  <a:schemeClr val="dk1"/>
                </a:solidFill>
              </a:rPr>
              <a:t> "Usuario: ",</a:t>
            </a:r>
            <a:r>
              <a:rPr lang="es-ES" sz="1050">
                <a:solidFill>
                  <a:srgbClr val="222222"/>
                </a:solidFill>
              </a:rPr>
              <a:t> </a:t>
            </a:r>
            <a:r>
              <a:rPr lang="es-ES" sz="2050" b="1">
                <a:solidFill>
                  <a:srgbClr val="336699"/>
                </a:solidFill>
              </a:rPr>
              <a:t>$user</a:t>
            </a:r>
            <a:r>
              <a:rPr lang="es-ES" sz="1050">
                <a:solidFill>
                  <a:srgbClr val="222222"/>
                </a:solidFill>
              </a:rPr>
              <a:t>; // mostrará name</a:t>
            </a:r>
            <a:endParaRPr sz="1050">
              <a:solidFill>
                <a:srgbClr val="222222"/>
              </a:solidFill>
            </a:endParaRPr>
          </a:p>
          <a:p>
            <a:pPr marL="0" lvl="0" indent="0" algn="l" rtl="0">
              <a:lnSpc>
                <a:spcPct val="135714"/>
              </a:lnSpc>
              <a:spcBef>
                <a:spcPts val="0"/>
              </a:spcBef>
              <a:spcAft>
                <a:spcPts val="0"/>
              </a:spcAft>
              <a:buNone/>
            </a:pPr>
            <a:r>
              <a:rPr lang="es-ES" sz="2350">
                <a:solidFill>
                  <a:srgbClr val="FF0000"/>
                </a:solidFill>
              </a:rPr>
              <a:t> ?&gt;</a:t>
            </a:r>
            <a:endParaRPr sz="1050">
              <a:solidFill>
                <a:srgbClr val="22222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40"/>
        <p:cNvGrpSpPr/>
        <p:nvPr/>
      </p:nvGrpSpPr>
      <p:grpSpPr>
        <a:xfrm>
          <a:off x="0" y="0"/>
          <a:ext cx="0" cy="0"/>
          <a:chOff x="0" y="0"/>
          <a:chExt cx="0" cy="0"/>
        </a:xfrm>
      </p:grpSpPr>
      <p:sp>
        <p:nvSpPr>
          <p:cNvPr id="241" name="Google Shape;241;g267f6732c23_0_0"/>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242" name="Google Shape;242;g267f6732c23_0_0"/>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243" name="Google Shape;243;g267f6732c23_0_0"/>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44" name="Google Shape;244;g267f6732c23_0_0"/>
          <p:cNvSpPr txBox="1">
            <a:spLocks noGrp="1"/>
          </p:cNvSpPr>
          <p:nvPr>
            <p:ph type="ctrTitle"/>
          </p:nvPr>
        </p:nvSpPr>
        <p:spPr>
          <a:xfrm>
            <a:off x="6818825" y="0"/>
            <a:ext cx="27357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Funciones</a:t>
            </a:r>
            <a:endParaRPr sz="3600">
              <a:solidFill>
                <a:srgbClr val="0070C0"/>
              </a:solidFill>
              <a:latin typeface="Arial"/>
              <a:ea typeface="Arial"/>
              <a:cs typeface="Arial"/>
              <a:sym typeface="Arial"/>
            </a:endParaRPr>
          </a:p>
        </p:txBody>
      </p:sp>
      <p:sp>
        <p:nvSpPr>
          <p:cNvPr id="245" name="Google Shape;245;g267f6732c23_0_0"/>
          <p:cNvSpPr txBox="1"/>
          <p:nvPr/>
        </p:nvSpPr>
        <p:spPr>
          <a:xfrm>
            <a:off x="646600" y="50100"/>
            <a:ext cx="5789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2.p4</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2-p4</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246" name="Google Shape;246;g267f6732c23_0_0"/>
          <p:cNvSpPr txBox="1"/>
          <p:nvPr/>
        </p:nvSpPr>
        <p:spPr>
          <a:xfrm>
            <a:off x="517825" y="1483575"/>
            <a:ext cx="99819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000"/>
              <a:t>Haz una página web que muestre la fecha actual en castellano, incluyendo  el día de la semana, con un formato similar al siguiente: "Domingo, 13 de Agosto de 2023".</a:t>
            </a:r>
            <a:endParaRPr sz="2000"/>
          </a:p>
        </p:txBody>
      </p:sp>
      <p:pic>
        <p:nvPicPr>
          <p:cNvPr id="247" name="Google Shape;247;g267f6732c23_0_0"/>
          <p:cNvPicPr preferRelativeResize="0"/>
          <p:nvPr/>
        </p:nvPicPr>
        <p:blipFill>
          <a:blip r:embed="rId4">
            <a:alphaModFix/>
          </a:blip>
          <a:stretch>
            <a:fillRect/>
          </a:stretch>
        </p:blipFill>
        <p:spPr>
          <a:xfrm>
            <a:off x="1803925" y="2520350"/>
            <a:ext cx="4152900" cy="590550"/>
          </a:xfrm>
          <a:prstGeom prst="rect">
            <a:avLst/>
          </a:prstGeom>
          <a:noFill/>
          <a:ln>
            <a:noFill/>
          </a:ln>
        </p:spPr>
      </p:pic>
      <p:sp>
        <p:nvSpPr>
          <p:cNvPr id="248" name="Google Shape;248;g267f6732c23_0_0"/>
          <p:cNvSpPr txBox="1"/>
          <p:nvPr/>
        </p:nvSpPr>
        <p:spPr>
          <a:xfrm>
            <a:off x="646600" y="3806875"/>
            <a:ext cx="7291800" cy="9285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2050">
                <a:solidFill>
                  <a:schemeClr val="dk1"/>
                </a:solidFill>
              </a:rPr>
              <a:t>Al inicio del programa escribe la orden:</a:t>
            </a:r>
            <a:endParaRPr sz="2050">
              <a:solidFill>
                <a:schemeClr val="dk1"/>
              </a:solidFill>
            </a:endParaRPr>
          </a:p>
          <a:p>
            <a:pPr marL="0" lvl="0" indent="0" algn="l" rtl="0">
              <a:lnSpc>
                <a:spcPct val="135714"/>
              </a:lnSpc>
              <a:spcBef>
                <a:spcPts val="0"/>
              </a:spcBef>
              <a:spcAft>
                <a:spcPts val="0"/>
              </a:spcAft>
              <a:buNone/>
            </a:pPr>
            <a:r>
              <a:rPr lang="es-ES" sz="2050">
                <a:solidFill>
                  <a:schemeClr val="dk1"/>
                </a:solidFill>
              </a:rPr>
              <a:t>date_default_timezone_set('Europe/Madrid');</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52"/>
        <p:cNvGrpSpPr/>
        <p:nvPr/>
      </p:nvGrpSpPr>
      <p:grpSpPr>
        <a:xfrm>
          <a:off x="0" y="0"/>
          <a:ext cx="0" cy="0"/>
          <a:chOff x="0" y="0"/>
          <a:chExt cx="0" cy="0"/>
        </a:xfrm>
      </p:grpSpPr>
      <p:sp>
        <p:nvSpPr>
          <p:cNvPr id="253" name="Google Shape;253;g267f6732c23_0_16"/>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254" name="Google Shape;254;g267f6732c23_0_16"/>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255" name="Google Shape;255;g267f6732c23_0_16"/>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56" name="Google Shape;256;g267f6732c23_0_16"/>
          <p:cNvSpPr txBox="1">
            <a:spLocks noGrp="1"/>
          </p:cNvSpPr>
          <p:nvPr>
            <p:ph type="ctrTitle"/>
          </p:nvPr>
        </p:nvSpPr>
        <p:spPr>
          <a:xfrm>
            <a:off x="6818825" y="0"/>
            <a:ext cx="27357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Funciones</a:t>
            </a:r>
            <a:endParaRPr sz="3600">
              <a:solidFill>
                <a:srgbClr val="0070C0"/>
              </a:solidFill>
              <a:latin typeface="Arial"/>
              <a:ea typeface="Arial"/>
              <a:cs typeface="Arial"/>
              <a:sym typeface="Arial"/>
            </a:endParaRPr>
          </a:p>
        </p:txBody>
      </p:sp>
      <p:sp>
        <p:nvSpPr>
          <p:cNvPr id="257" name="Google Shape;257;g267f6732c23_0_16"/>
          <p:cNvSpPr txBox="1"/>
          <p:nvPr/>
        </p:nvSpPr>
        <p:spPr>
          <a:xfrm>
            <a:off x="646600" y="50100"/>
            <a:ext cx="5826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2.p4</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2-p4</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258" name="Google Shape;258;g267f6732c23_0_16"/>
          <p:cNvSpPr txBox="1"/>
          <p:nvPr/>
        </p:nvSpPr>
        <p:spPr>
          <a:xfrm>
            <a:off x="112000" y="715800"/>
            <a:ext cx="5377200" cy="62685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&lt;!DOCTYPE HTML&gt;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 Desarrollo Web en Entorno Servidor --&gt;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 Tema 2 : Características del Lenguaje PHP --&gt;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 Ejemplo: Mostrar fecha en castellano --&gt;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&lt;html&gt;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&lt;head&gt;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&lt;meta  charset=UTF-8"&gt;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&lt;title&gt;Fecha en castellano&lt;/title&gt;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&lt;/head&gt;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&lt;body&gt;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&lt;?php</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date_default_timezone_set('Europe/Madrid');</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$numero_mes = date("m");</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$numero_dia_semana = date("N");</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switch($numero_mes){</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 $mes = "Enero";break;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2: $mes = "Febrero";break;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3: $mes = "Marzo";break;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4: $mes = "Abril";break;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5: $mes = "Mayo";break;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6: $mes = "Junio";break;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7: $mes = "Julio";break;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8: $mes = "Agosto";break;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9: $mes = "Septiembre";break;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10: $mes = "Octubre";break;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11: $mes = "Noviembre";break;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12: $mes = "Diciembre";break;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p:txBody>
      </p:sp>
      <p:sp>
        <p:nvSpPr>
          <p:cNvPr id="259" name="Google Shape;259;g267f6732c23_0_16"/>
          <p:cNvSpPr txBox="1"/>
          <p:nvPr/>
        </p:nvSpPr>
        <p:spPr>
          <a:xfrm>
            <a:off x="6368125" y="1273625"/>
            <a:ext cx="5195400" cy="3197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switch($numero_dia_semana){</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 $dia_semana = "Lunes";break;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2: $dia_semana = "Martes";break;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3: $dia_semana = "Miércoles";break;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4: $dia_semana = "Jueves";break;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5: $dia_semana = "Viernes";break;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6: $dia_semana = "Sábado";break;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7: $dia_semana = "Domingo";break;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print "&lt;h1&gt;" . $dia_semana .", " . date("j") . " de " . $mes . " de " . date("Y");</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&lt;/body&gt;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&lt;/html&gt;</a:t>
            </a:r>
            <a:endParaRPr sz="1050">
              <a:solidFill>
                <a:schemeClr val="dk1"/>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63"/>
        <p:cNvGrpSpPr/>
        <p:nvPr/>
      </p:nvGrpSpPr>
      <p:grpSpPr>
        <a:xfrm>
          <a:off x="0" y="0"/>
          <a:ext cx="0" cy="0"/>
          <a:chOff x="0" y="0"/>
          <a:chExt cx="0" cy="0"/>
        </a:xfrm>
      </p:grpSpPr>
      <p:sp>
        <p:nvSpPr>
          <p:cNvPr id="264" name="Google Shape;264;g2756436fed1_0_0"/>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265" name="Google Shape;265;g2756436fed1_0_0"/>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266" name="Google Shape;266;g2756436fed1_0_0"/>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67" name="Google Shape;267;g2756436fed1_0_0"/>
          <p:cNvSpPr txBox="1">
            <a:spLocks noGrp="1"/>
          </p:cNvSpPr>
          <p:nvPr>
            <p:ph type="ctrTitle"/>
          </p:nvPr>
        </p:nvSpPr>
        <p:spPr>
          <a:xfrm>
            <a:off x="0" y="436593"/>
            <a:ext cx="115875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EJERCICIO Fecha Formateada</a:t>
            </a:r>
            <a:endParaRPr sz="3600">
              <a:solidFill>
                <a:srgbClr val="0070C0"/>
              </a:solidFill>
              <a:latin typeface="Arial"/>
              <a:ea typeface="Arial"/>
              <a:cs typeface="Arial"/>
              <a:sym typeface="Arial"/>
            </a:endParaRPr>
          </a:p>
        </p:txBody>
      </p:sp>
      <p:sp>
        <p:nvSpPr>
          <p:cNvPr id="268" name="Google Shape;268;g2756436fed1_0_0"/>
          <p:cNvSpPr txBox="1"/>
          <p:nvPr/>
        </p:nvSpPr>
        <p:spPr>
          <a:xfrm>
            <a:off x="884550" y="1152400"/>
            <a:ext cx="8061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2-</a:t>
            </a:r>
            <a:r>
              <a:rPr lang="es-ES" sz="2800">
                <a:solidFill>
                  <a:srgbClr val="089908"/>
                </a:solidFill>
              </a:rPr>
              <a:t>8</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8</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269" name="Google Shape;269;g2756436fed1_0_0"/>
          <p:cNvSpPr txBox="1"/>
          <p:nvPr/>
        </p:nvSpPr>
        <p:spPr>
          <a:xfrm>
            <a:off x="965700" y="2085400"/>
            <a:ext cx="102897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000"/>
              <a:t>Anteriormente hiciste un ejercicio que mostraba la fecha actual en castellano. Con el mismo objetivo (puedes utilizar el código ya hecho), crea una función que devuelva una cadena de texto con la fecha en castellano, e introdúcela en un fichero externo. Después crea una página en PHP que incluya ese fichero y utilice la función para mostrar en pantalla la fecha obtenida. </a:t>
            </a:r>
            <a:endParaRPr sz="2000"/>
          </a:p>
        </p:txBody>
      </p:sp>
      <p:sp>
        <p:nvSpPr>
          <p:cNvPr id="270" name="Google Shape;270;g2756436fed1_0_0"/>
          <p:cNvSpPr txBox="1"/>
          <p:nvPr/>
        </p:nvSpPr>
        <p:spPr>
          <a:xfrm>
            <a:off x="965700" y="4014750"/>
            <a:ext cx="7291800" cy="9285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2050">
                <a:solidFill>
                  <a:srgbClr val="000000"/>
                </a:solidFill>
              </a:rPr>
              <a:t>Al inicio del programa escribe la orden:</a:t>
            </a:r>
            <a:endParaRPr sz="2050">
              <a:solidFill>
                <a:srgbClr val="000000"/>
              </a:solidFill>
            </a:endParaRPr>
          </a:p>
          <a:p>
            <a:pPr marL="0" lvl="0" indent="0" algn="l" rtl="0">
              <a:lnSpc>
                <a:spcPct val="135714"/>
              </a:lnSpc>
              <a:spcBef>
                <a:spcPts val="0"/>
              </a:spcBef>
              <a:spcAft>
                <a:spcPts val="0"/>
              </a:spcAft>
              <a:buNone/>
            </a:pPr>
            <a:r>
              <a:rPr lang="es-ES" sz="2050">
                <a:solidFill>
                  <a:srgbClr val="000000"/>
                </a:solidFill>
              </a:rPr>
              <a:t>date_default_timezone_set('Europe/Madrid');</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74"/>
        <p:cNvGrpSpPr/>
        <p:nvPr/>
      </p:nvGrpSpPr>
      <p:grpSpPr>
        <a:xfrm>
          <a:off x="0" y="0"/>
          <a:ext cx="0" cy="0"/>
          <a:chOff x="0" y="0"/>
          <a:chExt cx="0" cy="0"/>
        </a:xfrm>
      </p:grpSpPr>
      <p:sp>
        <p:nvSpPr>
          <p:cNvPr id="275" name="Google Shape;275;g2756436fed1_0_85"/>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pic>
        <p:nvPicPr>
          <p:cNvPr id="276" name="Google Shape;276;g2756436fed1_0_85"/>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277" name="Google Shape;277;g2756436fed1_0_85"/>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78" name="Google Shape;278;g2756436fed1_0_85"/>
          <p:cNvSpPr txBox="1">
            <a:spLocks noGrp="1"/>
          </p:cNvSpPr>
          <p:nvPr>
            <p:ph type="ctrTitle"/>
          </p:nvPr>
        </p:nvSpPr>
        <p:spPr>
          <a:xfrm>
            <a:off x="6818825" y="0"/>
            <a:ext cx="2735700" cy="715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Funciones</a:t>
            </a:r>
            <a:endParaRPr sz="3600">
              <a:solidFill>
                <a:srgbClr val="0070C0"/>
              </a:solidFill>
              <a:latin typeface="Arial"/>
              <a:ea typeface="Arial"/>
              <a:cs typeface="Arial"/>
              <a:sym typeface="Arial"/>
            </a:endParaRPr>
          </a:p>
        </p:txBody>
      </p:sp>
      <p:sp>
        <p:nvSpPr>
          <p:cNvPr id="279" name="Google Shape;279;g2756436fed1_0_85"/>
          <p:cNvSpPr txBox="1"/>
          <p:nvPr/>
        </p:nvSpPr>
        <p:spPr>
          <a:xfrm>
            <a:off x="646600" y="50100"/>
            <a:ext cx="4842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rgbClr val="089908"/>
                </a:solidFill>
                <a:latin typeface="Arial"/>
                <a:ea typeface="Arial"/>
                <a:cs typeface="Arial"/>
                <a:sym typeface="Arial"/>
              </a:rPr>
              <a:t>EJERCICIO </a:t>
            </a:r>
            <a:r>
              <a:rPr lang="es-ES" sz="2800">
                <a:solidFill>
                  <a:srgbClr val="089908"/>
                </a:solidFill>
              </a:rPr>
              <a:t>2.8</a:t>
            </a:r>
            <a:r>
              <a:rPr lang="es-ES" sz="2800" b="0" i="0" u="none" strike="noStrike" cap="none">
                <a:solidFill>
                  <a:srgbClr val="089908"/>
                </a:solidFill>
                <a:latin typeface="Arial"/>
                <a:ea typeface="Arial"/>
                <a:cs typeface="Arial"/>
                <a:sym typeface="Arial"/>
              </a:rPr>
              <a:t> </a:t>
            </a:r>
            <a:r>
              <a:rPr lang="es-ES" sz="2000" b="0" i="0" u="none" strike="noStrike" cap="none">
                <a:solidFill>
                  <a:srgbClr val="089908"/>
                </a:solidFill>
                <a:latin typeface="Arial"/>
                <a:ea typeface="Arial"/>
                <a:cs typeface="Arial"/>
                <a:sym typeface="Arial"/>
              </a:rPr>
              <a:t>(ejercicio</a:t>
            </a:r>
            <a:r>
              <a:rPr lang="es-ES" sz="2000">
                <a:solidFill>
                  <a:srgbClr val="089908"/>
                </a:solidFill>
              </a:rPr>
              <a:t>2-8</a:t>
            </a:r>
            <a:r>
              <a:rPr lang="es-ES" sz="2000" b="0" i="0" u="none" strike="noStrike" cap="none">
                <a:solidFill>
                  <a:srgbClr val="089908"/>
                </a:solidFill>
                <a:latin typeface="Arial"/>
                <a:ea typeface="Arial"/>
                <a:cs typeface="Arial"/>
                <a:sym typeface="Arial"/>
              </a:rPr>
              <a:t>.php)</a:t>
            </a:r>
            <a:endParaRPr sz="2000" b="0" i="0" u="none" strike="noStrike" cap="none">
              <a:solidFill>
                <a:srgbClr val="089908"/>
              </a:solidFill>
              <a:latin typeface="Arial"/>
              <a:ea typeface="Arial"/>
              <a:cs typeface="Arial"/>
              <a:sym typeface="Arial"/>
            </a:endParaRPr>
          </a:p>
        </p:txBody>
      </p:sp>
      <p:sp>
        <p:nvSpPr>
          <p:cNvPr id="280" name="Google Shape;280;g2756436fed1_0_85"/>
          <p:cNvSpPr txBox="1"/>
          <p:nvPr/>
        </p:nvSpPr>
        <p:spPr>
          <a:xfrm>
            <a:off x="112000" y="715800"/>
            <a:ext cx="5377200" cy="62685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&lt;!DOCTYPE HTML&gt;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 Desarrollo Web en Entorno Servidor --&gt;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 Tema 2 : Características del Lenguaje PHP --&gt;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 Ejemplo: Mostrar fecha en castellano --&gt;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&lt;html&gt;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&lt;head&gt;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&lt;meta  charset=UTF-8"&gt;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&lt;title&gt;Fecha en castellano&lt;/title&gt;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&lt;/head&gt;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&lt;body&gt;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&lt;?php</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date_default_timezone_set('Europe/Madrid');</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$numero_mes = date("m");</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$numero_dia_semana = date("N");</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switch($numero_mes){</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 $mes = "Enero";break;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2: $mes = "Febrero";break;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3: $mes = "Marzo";break;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4: $mes = "Abril";break;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5: $mes = "Mayo";break;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6: $mes = "Junio";break;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7: $mes = "Julio";break;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8: $mes = "Agosto";break;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9: $mes = "Septiembre";break;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10: $mes = "Octubre";break;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11: $mes = "Noviembre";break;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12: $mes = "Diciembre";break;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p:txBody>
      </p:sp>
      <p:sp>
        <p:nvSpPr>
          <p:cNvPr id="281" name="Google Shape;281;g2756436fed1_0_85"/>
          <p:cNvSpPr txBox="1"/>
          <p:nvPr/>
        </p:nvSpPr>
        <p:spPr>
          <a:xfrm>
            <a:off x="6368125" y="1273625"/>
            <a:ext cx="5195400" cy="3197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switch($numero_dia_semana){</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1: $dia_semana = "Lunes";break;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2: $dia_semana = "Martes";break;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3: $dia_semana = "Miércoles";break;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4: $dia_semana = "Jueves";break;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5: $dia_semana = "Viernes";break;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6: $dia_semana = "Sábado";break;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case 7: $dia_semana = "Domingo";break;</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print "&lt;h1&gt;" . $dia_semana .", " . date("j") . " de " . $mes . " de " . date("Y");</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&lt;/body&gt;</a:t>
            </a:r>
            <a:endParaRPr sz="1050">
              <a:solidFill>
                <a:schemeClr val="dk1"/>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ES" sz="1050">
                <a:solidFill>
                  <a:schemeClr val="dk1"/>
                </a:solidFill>
                <a:latin typeface="Courier New"/>
                <a:ea typeface="Courier New"/>
                <a:cs typeface="Courier New"/>
                <a:sym typeface="Courier New"/>
              </a:rPr>
              <a:t>&lt;/html&gt;</a:t>
            </a:r>
            <a:endParaRPr sz="1050">
              <a:solidFill>
                <a:schemeClr val="dk1"/>
              </a:solidFill>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85"/>
        <p:cNvGrpSpPr/>
        <p:nvPr/>
      </p:nvGrpSpPr>
      <p:grpSpPr>
        <a:xfrm>
          <a:off x="0" y="0"/>
          <a:ext cx="0" cy="0"/>
          <a:chOff x="0" y="0"/>
          <a:chExt cx="0" cy="0"/>
        </a:xfrm>
      </p:grpSpPr>
      <p:pic>
        <p:nvPicPr>
          <p:cNvPr id="286" name="Google Shape;286;g25ff8cd22f3_0_267"/>
          <p:cNvPicPr preferRelativeResize="0"/>
          <p:nvPr/>
        </p:nvPicPr>
        <p:blipFill rotWithShape="1">
          <a:blip r:embed="rId3">
            <a:alphaModFix/>
          </a:blip>
          <a:srcRect/>
          <a:stretch/>
        </p:blipFill>
        <p:spPr>
          <a:xfrm>
            <a:off x="10260012" y="5584825"/>
            <a:ext cx="1171575" cy="971550"/>
          </a:xfrm>
          <a:prstGeom prst="rect">
            <a:avLst/>
          </a:prstGeom>
          <a:noFill/>
          <a:ln>
            <a:noFill/>
          </a:ln>
        </p:spPr>
      </p:pic>
      <p:sp>
        <p:nvSpPr>
          <p:cNvPr id="287" name="Google Shape;287;g25ff8cd22f3_0_267"/>
          <p:cNvSpPr txBox="1"/>
          <p:nvPr/>
        </p:nvSpPr>
        <p:spPr>
          <a:xfrm>
            <a:off x="6940500" y="62794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88" name="Google Shape;288;g25ff8cd22f3_0_267"/>
          <p:cNvSpPr txBox="1">
            <a:spLocks noGrp="1"/>
          </p:cNvSpPr>
          <p:nvPr>
            <p:ph type="subTitle" idx="1"/>
          </p:nvPr>
        </p:nvSpPr>
        <p:spPr>
          <a:xfrm>
            <a:off x="5686625" y="1996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PHP</a:t>
            </a:r>
            <a:endParaRPr>
              <a:solidFill>
                <a:srgbClr val="CC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292"/>
        <p:cNvGrpSpPr/>
        <p:nvPr/>
      </p:nvGrpSpPr>
      <p:grpSpPr>
        <a:xfrm>
          <a:off x="0" y="0"/>
          <a:ext cx="0" cy="0"/>
          <a:chOff x="0" y="0"/>
          <a:chExt cx="0" cy="0"/>
        </a:xfrm>
      </p:grpSpPr>
      <p:sp>
        <p:nvSpPr>
          <p:cNvPr id="293" name="Google Shape;293;g27eff663c0a_0_0"/>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Continuación PHP</a:t>
            </a:r>
            <a:endParaRPr>
              <a:solidFill>
                <a:srgbClr val="CC0000"/>
              </a:solidFill>
            </a:endParaRPr>
          </a:p>
        </p:txBody>
      </p:sp>
      <p:pic>
        <p:nvPicPr>
          <p:cNvPr id="294" name="Google Shape;294;g27eff663c0a_0_0"/>
          <p:cNvPicPr preferRelativeResize="0"/>
          <p:nvPr/>
        </p:nvPicPr>
        <p:blipFill rotWithShape="1">
          <a:blip r:embed="rId3">
            <a:alphaModFix/>
          </a:blip>
          <a:srcRect/>
          <a:stretch/>
        </p:blipFill>
        <p:spPr>
          <a:xfrm>
            <a:off x="11074400" y="6007409"/>
            <a:ext cx="661987" cy="548965"/>
          </a:xfrm>
          <a:prstGeom prst="rect">
            <a:avLst/>
          </a:prstGeom>
          <a:noFill/>
          <a:ln>
            <a:noFill/>
          </a:ln>
        </p:spPr>
      </p:pic>
      <p:sp>
        <p:nvSpPr>
          <p:cNvPr id="295" name="Google Shape;295;g27eff663c0a_0_0"/>
          <p:cNvSpPr txBox="1">
            <a:spLocks noGrp="1"/>
          </p:cNvSpPr>
          <p:nvPr>
            <p:ph type="ctrTitle"/>
          </p:nvPr>
        </p:nvSpPr>
        <p:spPr>
          <a:xfrm>
            <a:off x="302257" y="161077"/>
            <a:ext cx="11587500" cy="7158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3600"/>
              <a:buFont typeface="Arial"/>
              <a:buNone/>
            </a:pPr>
            <a:r>
              <a:rPr lang="es-ES" sz="3600">
                <a:solidFill>
                  <a:srgbClr val="0070C0"/>
                </a:solidFill>
                <a:latin typeface="Arial"/>
                <a:ea typeface="Arial"/>
                <a:cs typeface="Arial"/>
                <a:sym typeface="Arial"/>
              </a:rPr>
              <a:t>EJERCICIO 2-23</a:t>
            </a:r>
            <a:endParaRPr sz="3600">
              <a:solidFill>
                <a:srgbClr val="0070C0"/>
              </a:solidFill>
              <a:latin typeface="Arial"/>
              <a:ea typeface="Arial"/>
              <a:cs typeface="Arial"/>
              <a:sym typeface="Arial"/>
            </a:endParaRPr>
          </a:p>
        </p:txBody>
      </p:sp>
      <p:sp>
        <p:nvSpPr>
          <p:cNvPr id="296" name="Google Shape;296;g27eff663c0a_0_0"/>
          <p:cNvSpPr txBox="1"/>
          <p:nvPr/>
        </p:nvSpPr>
        <p:spPr>
          <a:xfrm>
            <a:off x="302250" y="4255350"/>
            <a:ext cx="11143500" cy="1385400"/>
          </a:xfrm>
          <a:prstGeom prst="rect">
            <a:avLst/>
          </a:prstGeom>
          <a:solidFill>
            <a:srgbClr val="FFD966"/>
          </a:solidFill>
          <a:ln>
            <a:noFill/>
          </a:ln>
        </p:spPr>
        <p:txBody>
          <a:bodyPr spcFirstLastPara="1" wrap="square" lIns="91425" tIns="91425" rIns="91425" bIns="91425" anchor="t" anchorCtr="0">
            <a:spAutoFit/>
          </a:bodyPr>
          <a:lstStyle/>
          <a:p>
            <a:pPr marL="457200" marR="0" lvl="0" indent="0" algn="just" rtl="0">
              <a:lnSpc>
                <a:spcPct val="100000"/>
              </a:lnSpc>
              <a:spcBef>
                <a:spcPts val="1200"/>
              </a:spcBef>
              <a:spcAft>
                <a:spcPts val="0"/>
              </a:spcAft>
              <a:buClr>
                <a:srgbClr val="000000"/>
              </a:buClr>
              <a:buSzPts val="2600"/>
              <a:buFont typeface="Arial"/>
              <a:buNone/>
            </a:pPr>
            <a:r>
              <a:rPr lang="es-ES" sz="2600" b="0" i="0" u="none" strike="noStrike" cap="none">
                <a:solidFill>
                  <a:schemeClr val="dk1"/>
                </a:solidFill>
                <a:latin typeface="Arial"/>
                <a:ea typeface="Arial"/>
                <a:cs typeface="Arial"/>
                <a:sym typeface="Arial"/>
              </a:rPr>
              <a:t>Puede haber valores </a:t>
            </a:r>
            <a:r>
              <a:rPr lang="es-ES" sz="2600" b="1" i="0" u="none" strike="noStrike" cap="none">
                <a:solidFill>
                  <a:schemeClr val="dk1"/>
                </a:solidFill>
                <a:latin typeface="Arial"/>
                <a:ea typeface="Arial"/>
                <a:cs typeface="Arial"/>
                <a:sym typeface="Arial"/>
              </a:rPr>
              <a:t>por defecto</a:t>
            </a:r>
            <a:r>
              <a:rPr lang="es-ES" sz="2600" b="0" i="0" u="none" strike="noStrike" cap="none">
                <a:solidFill>
                  <a:schemeClr val="dk1"/>
                </a:solidFill>
                <a:latin typeface="Arial"/>
                <a:ea typeface="Arial"/>
                <a:cs typeface="Arial"/>
                <a:sym typeface="Arial"/>
              </a:rPr>
              <a:t> definidos para varios argumentos, pero en la lista de argumentos de la función todos ellos deben estar </a:t>
            </a:r>
            <a:r>
              <a:rPr lang="es-ES" sz="2600" b="1" i="0" u="none" strike="noStrike" cap="none">
                <a:solidFill>
                  <a:schemeClr val="dk1"/>
                </a:solidFill>
                <a:latin typeface="Arial"/>
                <a:ea typeface="Arial"/>
                <a:cs typeface="Arial"/>
                <a:sym typeface="Arial"/>
              </a:rPr>
              <a:t>a la derecha</a:t>
            </a:r>
            <a:r>
              <a:rPr lang="es-ES" sz="2600" b="0" i="0" u="none" strike="noStrike" cap="none">
                <a:solidFill>
                  <a:schemeClr val="dk1"/>
                </a:solidFill>
                <a:latin typeface="Arial"/>
                <a:ea typeface="Arial"/>
                <a:cs typeface="Arial"/>
                <a:sym typeface="Arial"/>
              </a:rPr>
              <a:t> de cualquier otro argumento sin valor por defecto. </a:t>
            </a:r>
            <a:endParaRPr sz="2600" b="0" i="0" u="none" strike="noStrike" cap="none">
              <a:solidFill>
                <a:schemeClr val="dk1"/>
              </a:solidFill>
              <a:latin typeface="Arial"/>
              <a:ea typeface="Arial"/>
              <a:cs typeface="Arial"/>
              <a:sym typeface="Arial"/>
            </a:endParaRPr>
          </a:p>
        </p:txBody>
      </p:sp>
      <p:sp>
        <p:nvSpPr>
          <p:cNvPr id="297" name="Google Shape;297;g27eff663c0a_0_0"/>
          <p:cNvSpPr txBox="1"/>
          <p:nvPr/>
        </p:nvSpPr>
        <p:spPr>
          <a:xfrm>
            <a:off x="74168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298" name="Google Shape;298;g27eff663c0a_0_0"/>
          <p:cNvSpPr txBox="1"/>
          <p:nvPr/>
        </p:nvSpPr>
        <p:spPr>
          <a:xfrm>
            <a:off x="1072125" y="1180863"/>
            <a:ext cx="8055900" cy="2770500"/>
          </a:xfrm>
          <a:prstGeom prst="rect">
            <a:avLst/>
          </a:prstGeom>
          <a:solidFill>
            <a:srgbClr val="AFFBB7"/>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Arial"/>
                <a:ea typeface="Arial"/>
                <a:cs typeface="Arial"/>
                <a:sym typeface="Arial"/>
              </a:rPr>
              <a:t> </a:t>
            </a:r>
            <a:r>
              <a:rPr lang="es-ES" sz="2000" b="1" i="0" u="none" strike="noStrike" cap="none">
                <a:solidFill>
                  <a:srgbClr val="FF0000"/>
                </a:solidFill>
                <a:latin typeface="Arial"/>
                <a:ea typeface="Arial"/>
                <a:cs typeface="Arial"/>
                <a:sym typeface="Arial"/>
              </a:rPr>
              <a:t>&lt;?php</a:t>
            </a:r>
            <a:endParaRPr sz="20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s-ES" sz="2000" b="1" i="0" u="none" strike="noStrike" cap="none">
                <a:solidFill>
                  <a:srgbClr val="FF0000"/>
                </a:solidFill>
                <a:latin typeface="Arial"/>
                <a:ea typeface="Arial"/>
                <a:cs typeface="Arial"/>
                <a:sym typeface="Arial"/>
              </a:rPr>
              <a:t>	</a:t>
            </a:r>
            <a:r>
              <a:rPr lang="es-ES" sz="2000" b="1" i="0" u="none" strike="noStrike" cap="none">
                <a:solidFill>
                  <a:schemeClr val="dk1"/>
                </a:solidFill>
                <a:latin typeface="Arial"/>
                <a:ea typeface="Arial"/>
                <a:cs typeface="Arial"/>
                <a:sym typeface="Arial"/>
              </a:rPr>
              <a:t>function </a:t>
            </a:r>
            <a:r>
              <a:rPr lang="es-ES" sz="2000" b="0" i="0" u="none" strike="noStrike" cap="none">
                <a:solidFill>
                  <a:schemeClr val="dk1"/>
                </a:solidFill>
                <a:latin typeface="Arial"/>
                <a:ea typeface="Arial"/>
                <a:cs typeface="Arial"/>
                <a:sym typeface="Arial"/>
              </a:rPr>
              <a:t> precio_con_iva (</a:t>
            </a:r>
            <a:r>
              <a:rPr lang="es-ES" sz="2000" b="0" i="0" u="none" strike="noStrike" cap="none">
                <a:solidFill>
                  <a:srgbClr val="0070C0"/>
                </a:solidFill>
                <a:latin typeface="Arial"/>
                <a:ea typeface="Arial"/>
                <a:cs typeface="Arial"/>
                <a:sym typeface="Arial"/>
              </a:rPr>
              <a:t>$precio, $iva</a:t>
            </a:r>
            <a:r>
              <a:rPr lang="es-ES" sz="2000" b="0" i="0" u="none" strike="noStrike" cap="none">
                <a:solidFill>
                  <a:schemeClr val="dk1"/>
                </a:solidFill>
                <a:latin typeface="Arial"/>
                <a:ea typeface="Arial"/>
                <a:cs typeface="Arial"/>
                <a:sym typeface="Arial"/>
              </a:rPr>
              <a:t>=0.18) </a:t>
            </a:r>
            <a:r>
              <a:rPr lang="es-ES" sz="2000" b="1" i="0" u="none" strike="noStrike" cap="none">
                <a:solidFill>
                  <a:srgbClr val="FF0000"/>
                </a:solidFill>
                <a:latin typeface="Arial"/>
                <a:ea typeface="Arial"/>
                <a:cs typeface="Arial"/>
                <a:sym typeface="Arial"/>
              </a:rPr>
              <a:t>{</a:t>
            </a:r>
            <a:endParaRPr sz="2000" b="1" i="0" u="none" strike="noStrike" cap="none">
              <a:solidFill>
                <a:srgbClr val="FF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100"/>
              <a:buFont typeface="Arial"/>
              <a:buNone/>
            </a:pPr>
            <a:r>
              <a:rPr lang="es-ES" sz="2000" b="0" i="0" u="none" strike="noStrike" cap="none">
                <a:solidFill>
                  <a:schemeClr val="dk1"/>
                </a:solidFill>
                <a:latin typeface="Arial"/>
                <a:ea typeface="Arial"/>
                <a:cs typeface="Arial"/>
                <a:sym typeface="Arial"/>
              </a:rPr>
              <a:t>return </a:t>
            </a:r>
            <a:r>
              <a:rPr lang="es-ES" sz="2000" b="0" i="0" u="none" strike="noStrike" cap="none">
                <a:solidFill>
                  <a:srgbClr val="0070C0"/>
                </a:solidFill>
                <a:latin typeface="Arial"/>
                <a:ea typeface="Arial"/>
                <a:cs typeface="Arial"/>
                <a:sym typeface="Arial"/>
              </a:rPr>
              <a:t>$precio</a:t>
            </a:r>
            <a:r>
              <a:rPr lang="es-ES" sz="2000" b="0" i="0" u="none" strike="noStrike" cap="none">
                <a:solidFill>
                  <a:schemeClr val="dk1"/>
                </a:solidFill>
                <a:latin typeface="Arial"/>
                <a:ea typeface="Arial"/>
                <a:cs typeface="Arial"/>
                <a:sym typeface="Arial"/>
              </a:rPr>
              <a:t> * (1 + </a:t>
            </a:r>
            <a:r>
              <a:rPr lang="es-ES" sz="2000" b="0" i="0" u="none" strike="noStrike" cap="none">
                <a:solidFill>
                  <a:srgbClr val="0070C0"/>
                </a:solidFill>
                <a:latin typeface="Arial"/>
                <a:ea typeface="Arial"/>
                <a:cs typeface="Arial"/>
                <a:sym typeface="Arial"/>
              </a:rPr>
              <a:t>$iva</a:t>
            </a:r>
            <a:r>
              <a:rPr lang="es-ES" sz="2000" b="0" i="0" u="none" strike="noStrike" cap="none">
                <a:solidFill>
                  <a:schemeClr val="dk1"/>
                </a:solidFill>
                <a:latin typeface="Arial"/>
                <a:ea typeface="Arial"/>
                <a:cs typeface="Arial"/>
                <a:sym typeface="Arial"/>
              </a:rPr>
              <a:t>);</a:t>
            </a:r>
            <a:endParaRPr sz="2000" b="0"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100"/>
              <a:buFont typeface="Arial"/>
              <a:buNone/>
            </a:pPr>
            <a:r>
              <a:rPr lang="es-ES" sz="2000" b="1" i="0" u="none" strike="noStrike" cap="none">
                <a:solidFill>
                  <a:srgbClr val="FF0000"/>
                </a:solidFill>
                <a:latin typeface="Arial"/>
                <a:ea typeface="Arial"/>
                <a:cs typeface="Arial"/>
                <a:sym typeface="Arial"/>
              </a:rPr>
              <a:t>}</a:t>
            </a:r>
            <a:endParaRPr sz="2000" b="0"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100"/>
              <a:buFont typeface="Arial"/>
              <a:buNone/>
            </a:pPr>
            <a:r>
              <a:rPr lang="es-ES" sz="2000" b="0" i="0" u="none" strike="noStrike" cap="none">
                <a:solidFill>
                  <a:srgbClr val="0070C0"/>
                </a:solidFill>
                <a:latin typeface="Arial"/>
                <a:ea typeface="Arial"/>
                <a:cs typeface="Arial"/>
                <a:sym typeface="Arial"/>
              </a:rPr>
              <a:t>$precio</a:t>
            </a:r>
            <a:r>
              <a:rPr lang="es-ES" sz="2000" b="0" i="0" u="none" strike="noStrike" cap="none">
                <a:solidFill>
                  <a:schemeClr val="dk1"/>
                </a:solidFill>
                <a:latin typeface="Arial"/>
                <a:ea typeface="Arial"/>
                <a:cs typeface="Arial"/>
                <a:sym typeface="Arial"/>
              </a:rPr>
              <a:t> = 10;</a:t>
            </a:r>
            <a:endParaRPr sz="2000" b="0"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100"/>
              <a:buFont typeface="Arial"/>
              <a:buNone/>
            </a:pPr>
            <a:r>
              <a:rPr lang="es-ES" sz="2000" b="0" i="0" u="none" strike="noStrike" cap="none">
                <a:solidFill>
                  <a:srgbClr val="0070C0"/>
                </a:solidFill>
                <a:latin typeface="Arial"/>
                <a:ea typeface="Arial"/>
                <a:cs typeface="Arial"/>
                <a:sym typeface="Arial"/>
              </a:rPr>
              <a:t>$precio_iva </a:t>
            </a:r>
            <a:r>
              <a:rPr lang="es-ES" sz="2000" b="0" i="0" u="none" strike="noStrike" cap="none">
                <a:solidFill>
                  <a:schemeClr val="dk1"/>
                </a:solidFill>
                <a:latin typeface="Arial"/>
                <a:ea typeface="Arial"/>
                <a:cs typeface="Arial"/>
                <a:sym typeface="Arial"/>
              </a:rPr>
              <a:t>=</a:t>
            </a:r>
            <a:r>
              <a:rPr lang="es-ES" sz="2000" b="0" i="0" u="none" strike="noStrike" cap="none">
                <a:solidFill>
                  <a:srgbClr val="0070C0"/>
                </a:solidFill>
                <a:latin typeface="Arial"/>
                <a:ea typeface="Arial"/>
                <a:cs typeface="Arial"/>
                <a:sym typeface="Arial"/>
              </a:rPr>
              <a:t> </a:t>
            </a:r>
            <a:r>
              <a:rPr lang="es-ES" sz="2000" b="0" i="0" u="none" strike="noStrike" cap="none">
                <a:solidFill>
                  <a:schemeClr val="dk1"/>
                </a:solidFill>
                <a:latin typeface="Arial"/>
                <a:ea typeface="Arial"/>
                <a:cs typeface="Arial"/>
                <a:sym typeface="Arial"/>
              </a:rPr>
              <a:t>precio_con_iva (</a:t>
            </a:r>
            <a:r>
              <a:rPr lang="es-ES" sz="2000" b="0" i="0" u="none" strike="noStrike" cap="none">
                <a:solidFill>
                  <a:srgbClr val="0070C0"/>
                </a:solidFill>
                <a:latin typeface="Arial"/>
                <a:ea typeface="Arial"/>
                <a:cs typeface="Arial"/>
                <a:sym typeface="Arial"/>
              </a:rPr>
              <a:t>$precio</a:t>
            </a:r>
            <a:r>
              <a:rPr lang="es-ES" sz="2000" b="0" i="0" u="none" strike="noStrike" cap="none">
                <a:solidFill>
                  <a:schemeClr val="dk1"/>
                </a:solidFill>
                <a:latin typeface="Arial"/>
                <a:ea typeface="Arial"/>
                <a:cs typeface="Arial"/>
                <a:sym typeface="Arial"/>
              </a:rPr>
              <a:t>);</a:t>
            </a:r>
            <a:endParaRPr sz="2000" b="0"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rgbClr val="000000"/>
              </a:buClr>
              <a:buSzPts val="2000"/>
              <a:buFont typeface="Arial"/>
              <a:buNone/>
            </a:pPr>
            <a:r>
              <a:rPr lang="es-ES" sz="2000" b="1" i="0" u="none" strike="noStrike" cap="none">
                <a:solidFill>
                  <a:srgbClr val="007700"/>
                </a:solidFill>
                <a:latin typeface="Arial"/>
                <a:ea typeface="Arial"/>
                <a:cs typeface="Arial"/>
                <a:sym typeface="Arial"/>
              </a:rPr>
              <a:t>print </a:t>
            </a:r>
            <a:r>
              <a:rPr lang="es-ES" sz="2000" b="0" i="0" u="none" strike="noStrike" cap="none">
                <a:solidFill>
                  <a:schemeClr val="dk1"/>
                </a:solidFill>
                <a:latin typeface="Arial"/>
                <a:ea typeface="Arial"/>
                <a:cs typeface="Arial"/>
                <a:sym typeface="Arial"/>
              </a:rPr>
              <a:t>"El precio con IVA es " . </a:t>
            </a:r>
            <a:r>
              <a:rPr lang="es-ES" sz="2000" b="0" i="0" u="none" strike="noStrike" cap="none">
                <a:solidFill>
                  <a:srgbClr val="0070C0"/>
                </a:solidFill>
                <a:latin typeface="Arial"/>
                <a:ea typeface="Arial"/>
                <a:cs typeface="Arial"/>
                <a:sym typeface="Arial"/>
              </a:rPr>
              <a:t>$precio_iva</a:t>
            </a:r>
            <a:r>
              <a:rPr lang="es-E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s-ES" sz="2000" b="1" i="0" u="none" strike="noStrike" cap="none">
                <a:solidFill>
                  <a:srgbClr val="FF0000"/>
                </a:solidFill>
                <a:latin typeface="Arial"/>
                <a:ea typeface="Arial"/>
                <a:cs typeface="Arial"/>
                <a:sym typeface="Arial"/>
              </a:rPr>
              <a:t>?&gt;</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302"/>
        <p:cNvGrpSpPr/>
        <p:nvPr/>
      </p:nvGrpSpPr>
      <p:grpSpPr>
        <a:xfrm>
          <a:off x="0" y="0"/>
          <a:ext cx="0" cy="0"/>
          <a:chOff x="0" y="0"/>
          <a:chExt cx="0" cy="0"/>
        </a:xfrm>
      </p:grpSpPr>
      <p:sp>
        <p:nvSpPr>
          <p:cNvPr id="303" name="Google Shape;303;g27d41c7e044_0_106"/>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Continuación PHP</a:t>
            </a:r>
            <a:endParaRPr>
              <a:solidFill>
                <a:srgbClr val="CC0000"/>
              </a:solidFill>
            </a:endParaRPr>
          </a:p>
        </p:txBody>
      </p:sp>
      <p:pic>
        <p:nvPicPr>
          <p:cNvPr id="304" name="Google Shape;304;g27d41c7e044_0_106"/>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305" name="Google Shape;305;g27d41c7e044_0_106"/>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306" name="Google Shape;306;g27d41c7e044_0_106"/>
          <p:cNvSpPr txBox="1">
            <a:spLocks noGrp="1"/>
          </p:cNvSpPr>
          <p:nvPr>
            <p:ph type="ctrTitle"/>
          </p:nvPr>
        </p:nvSpPr>
        <p:spPr>
          <a:xfrm>
            <a:off x="288250" y="97625"/>
            <a:ext cx="10197600" cy="7158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3600"/>
              <a:buFont typeface="Arial"/>
              <a:buNone/>
            </a:pPr>
            <a:r>
              <a:rPr lang="es-ES" sz="2277">
                <a:solidFill>
                  <a:srgbClr val="0070C0"/>
                </a:solidFill>
                <a:latin typeface="Arial"/>
                <a:ea typeface="Arial"/>
                <a:cs typeface="Arial"/>
                <a:sym typeface="Arial"/>
              </a:rPr>
              <a:t>ESTRUCTURAS DE CONTROL EN PHP:</a:t>
            </a:r>
            <a:r>
              <a:rPr lang="es-ES" sz="3600">
                <a:solidFill>
                  <a:srgbClr val="0070C0"/>
                </a:solidFill>
                <a:latin typeface="Arial"/>
                <a:ea typeface="Arial"/>
                <a:cs typeface="Arial"/>
                <a:sym typeface="Arial"/>
              </a:rPr>
              <a:t> </a:t>
            </a:r>
            <a:endParaRPr sz="3600">
              <a:solidFill>
                <a:srgbClr val="0070C0"/>
              </a:solidFill>
              <a:latin typeface="Arial"/>
              <a:ea typeface="Arial"/>
              <a:cs typeface="Arial"/>
              <a:sym typeface="Arial"/>
            </a:endParaRPr>
          </a:p>
        </p:txBody>
      </p:sp>
      <p:sp>
        <p:nvSpPr>
          <p:cNvPr id="307" name="Google Shape;307;g27d41c7e044_0_106"/>
          <p:cNvSpPr txBox="1"/>
          <p:nvPr/>
        </p:nvSpPr>
        <p:spPr>
          <a:xfrm>
            <a:off x="896950" y="2269000"/>
            <a:ext cx="9588900" cy="1046700"/>
          </a:xfrm>
          <a:prstGeom prst="rect">
            <a:avLst/>
          </a:prstGeom>
          <a:solidFill>
            <a:srgbClr val="AFFBB7"/>
          </a:solidFill>
          <a:ln>
            <a:noFill/>
          </a:ln>
        </p:spPr>
        <p:txBody>
          <a:bodyPr spcFirstLastPara="1" wrap="square" lIns="91425" tIns="91425" rIns="91425" bIns="91425" anchor="t" anchorCtr="0">
            <a:spAutoFit/>
          </a:bodyPr>
          <a:lstStyle/>
          <a:p>
            <a:pPr marL="0" lvl="0" indent="0" algn="l" rtl="0">
              <a:spcBef>
                <a:spcPts val="1200"/>
              </a:spcBef>
              <a:spcAft>
                <a:spcPts val="0"/>
              </a:spcAft>
              <a:buNone/>
            </a:pPr>
            <a:r>
              <a:rPr lang="es-ES" sz="2800">
                <a:solidFill>
                  <a:schemeClr val="dk1"/>
                </a:solidFill>
              </a:rPr>
              <a:t> </a:t>
            </a:r>
            <a:r>
              <a:rPr lang="es-ES" sz="2800" b="1">
                <a:solidFill>
                  <a:schemeClr val="dk1"/>
                </a:solidFill>
              </a:rPr>
              <a:t>Realiza los ejercicios de estructuras condicionales del bloque de ejercicios</a:t>
            </a:r>
            <a:r>
              <a:rPr lang="es-ES" sz="2800" b="1">
                <a:solidFill>
                  <a:srgbClr val="FF0000"/>
                </a:solidFill>
              </a:rPr>
              <a:t> </a:t>
            </a:r>
            <a:r>
              <a:rPr lang="es-ES" sz="2800" b="1">
                <a:solidFill>
                  <a:srgbClr val="089908"/>
                </a:solidFill>
              </a:rPr>
              <a:t>UD2EJ_EC</a:t>
            </a:r>
            <a:endParaRPr sz="2800" b="1">
              <a:solidFill>
                <a:srgbClr val="089908"/>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311"/>
        <p:cNvGrpSpPr/>
        <p:nvPr/>
      </p:nvGrpSpPr>
      <p:grpSpPr>
        <a:xfrm>
          <a:off x="0" y="0"/>
          <a:ext cx="0" cy="0"/>
          <a:chOff x="0" y="0"/>
          <a:chExt cx="0" cy="0"/>
        </a:xfrm>
      </p:grpSpPr>
      <p:sp>
        <p:nvSpPr>
          <p:cNvPr id="312" name="Google Shape;312;g27d41c7e044_0_23"/>
          <p:cNvSpPr txBox="1">
            <a:spLocks noGrp="1"/>
          </p:cNvSpPr>
          <p:nvPr>
            <p:ph type="subTitle" idx="1"/>
          </p:nvPr>
        </p:nvSpPr>
        <p:spPr>
          <a:xfrm>
            <a:off x="5791200" y="161067"/>
            <a:ext cx="9144000" cy="588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C0000"/>
              </a:buClr>
              <a:buSzPts val="2400"/>
              <a:buNone/>
            </a:pPr>
            <a:r>
              <a:rPr lang="es-ES">
                <a:solidFill>
                  <a:srgbClr val="CC0000"/>
                </a:solidFill>
              </a:rPr>
              <a:t>UNIDAD 2 Continuación PHP</a:t>
            </a:r>
            <a:endParaRPr>
              <a:solidFill>
                <a:srgbClr val="CC0000"/>
              </a:solidFill>
            </a:endParaRPr>
          </a:p>
        </p:txBody>
      </p:sp>
      <p:pic>
        <p:nvPicPr>
          <p:cNvPr id="313" name="Google Shape;313;g27d41c7e044_0_23"/>
          <p:cNvPicPr preferRelativeResize="0"/>
          <p:nvPr/>
        </p:nvPicPr>
        <p:blipFill rotWithShape="1">
          <a:blip r:embed="rId3">
            <a:alphaModFix/>
          </a:blip>
          <a:srcRect/>
          <a:stretch/>
        </p:blipFill>
        <p:spPr>
          <a:xfrm>
            <a:off x="10769600" y="6007409"/>
            <a:ext cx="661987" cy="548965"/>
          </a:xfrm>
          <a:prstGeom prst="rect">
            <a:avLst/>
          </a:prstGeom>
          <a:noFill/>
          <a:ln>
            <a:noFill/>
          </a:ln>
        </p:spPr>
      </p:pic>
      <p:sp>
        <p:nvSpPr>
          <p:cNvPr id="314" name="Google Shape;314;g27d41c7e044_0_23"/>
          <p:cNvSpPr txBox="1"/>
          <p:nvPr/>
        </p:nvSpPr>
        <p:spPr>
          <a:xfrm>
            <a:off x="6959600" y="6286781"/>
            <a:ext cx="3700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chemeClr val="dk1"/>
                </a:solidFill>
                <a:latin typeface="Arial"/>
                <a:ea typeface="Arial"/>
                <a:cs typeface="Arial"/>
                <a:sym typeface="Arial"/>
              </a:rPr>
              <a:t>Desarrollo de aplicaciones Web en entorno servidor</a:t>
            </a:r>
            <a:endParaRPr sz="1200" b="0" i="0" u="none" strike="noStrike" cap="none">
              <a:solidFill>
                <a:schemeClr val="dk1"/>
              </a:solidFill>
              <a:latin typeface="Arial"/>
              <a:ea typeface="Arial"/>
              <a:cs typeface="Arial"/>
              <a:sym typeface="Arial"/>
            </a:endParaRPr>
          </a:p>
        </p:txBody>
      </p:sp>
      <p:sp>
        <p:nvSpPr>
          <p:cNvPr id="315" name="Google Shape;315;g27d41c7e044_0_23"/>
          <p:cNvSpPr txBox="1">
            <a:spLocks noGrp="1"/>
          </p:cNvSpPr>
          <p:nvPr>
            <p:ph type="ctrTitle"/>
          </p:nvPr>
        </p:nvSpPr>
        <p:spPr>
          <a:xfrm>
            <a:off x="288250" y="97625"/>
            <a:ext cx="10197600" cy="7158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3600"/>
              <a:buFont typeface="Arial"/>
              <a:buNone/>
            </a:pPr>
            <a:r>
              <a:rPr lang="es-ES" sz="2277">
                <a:solidFill>
                  <a:srgbClr val="0070C0"/>
                </a:solidFill>
                <a:latin typeface="Arial"/>
                <a:ea typeface="Arial"/>
                <a:cs typeface="Arial"/>
                <a:sym typeface="Arial"/>
              </a:rPr>
              <a:t>ESTRUCTURAS DE CONTROL EN PHP:</a:t>
            </a:r>
            <a:r>
              <a:rPr lang="es-ES" sz="3600">
                <a:solidFill>
                  <a:srgbClr val="0070C0"/>
                </a:solidFill>
                <a:latin typeface="Arial"/>
                <a:ea typeface="Arial"/>
                <a:cs typeface="Arial"/>
                <a:sym typeface="Arial"/>
              </a:rPr>
              <a:t> </a:t>
            </a:r>
            <a:endParaRPr sz="3600">
              <a:solidFill>
                <a:srgbClr val="0070C0"/>
              </a:solidFill>
              <a:latin typeface="Arial"/>
              <a:ea typeface="Arial"/>
              <a:cs typeface="Arial"/>
              <a:sym typeface="Arial"/>
            </a:endParaRPr>
          </a:p>
        </p:txBody>
      </p:sp>
      <p:sp>
        <p:nvSpPr>
          <p:cNvPr id="316" name="Google Shape;316;g27d41c7e044_0_23"/>
          <p:cNvSpPr txBox="1"/>
          <p:nvPr/>
        </p:nvSpPr>
        <p:spPr>
          <a:xfrm>
            <a:off x="896950" y="2269000"/>
            <a:ext cx="9588900" cy="1046700"/>
          </a:xfrm>
          <a:prstGeom prst="rect">
            <a:avLst/>
          </a:prstGeom>
          <a:solidFill>
            <a:srgbClr val="AFFBB7"/>
          </a:solidFill>
          <a:ln>
            <a:noFill/>
          </a:ln>
        </p:spPr>
        <p:txBody>
          <a:bodyPr spcFirstLastPara="1" wrap="square" lIns="91425" tIns="91425" rIns="91425" bIns="91425" anchor="t" anchorCtr="0">
            <a:spAutoFit/>
          </a:bodyPr>
          <a:lstStyle/>
          <a:p>
            <a:pPr marL="0" lvl="0" indent="0" algn="l" rtl="0">
              <a:spcBef>
                <a:spcPts val="1200"/>
              </a:spcBef>
              <a:spcAft>
                <a:spcPts val="0"/>
              </a:spcAft>
              <a:buNone/>
            </a:pPr>
            <a:r>
              <a:rPr lang="es-ES" sz="2800">
                <a:solidFill>
                  <a:schemeClr val="dk1"/>
                </a:solidFill>
              </a:rPr>
              <a:t> </a:t>
            </a:r>
            <a:r>
              <a:rPr lang="es-ES" sz="2800" b="1">
                <a:solidFill>
                  <a:schemeClr val="dk1"/>
                </a:solidFill>
              </a:rPr>
              <a:t>Realiza los ejercicios de estructuras repetitivas del bloque de ejercicios</a:t>
            </a:r>
            <a:r>
              <a:rPr lang="es-ES" sz="2800" b="1">
                <a:solidFill>
                  <a:srgbClr val="FF0000"/>
                </a:solidFill>
              </a:rPr>
              <a:t> </a:t>
            </a:r>
            <a:r>
              <a:rPr lang="es-ES" sz="2800" b="1">
                <a:solidFill>
                  <a:srgbClr val="089908"/>
                </a:solidFill>
              </a:rPr>
              <a:t>UD2EJ_EC</a:t>
            </a:r>
            <a:endParaRPr sz="2800" b="1">
              <a:solidFill>
                <a:srgbClr val="089908"/>
              </a:solidFill>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2414</Words>
  <Application>Microsoft Office PowerPoint</Application>
  <PresentationFormat>Panorámica</PresentationFormat>
  <Paragraphs>324</Paragraphs>
  <Slides>23</Slides>
  <Notes>23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23</vt:i4>
      </vt:variant>
    </vt:vector>
  </HeadingPairs>
  <TitlesOfParts>
    <vt:vector size="27" baseType="lpstr">
      <vt:lpstr>Arial</vt:lpstr>
      <vt:lpstr>Calibri</vt:lpstr>
      <vt:lpstr>Courier New</vt:lpstr>
      <vt:lpstr>Tema de Office</vt:lpstr>
      <vt:lpstr>PROGRAMACIÓN WEB CON PHP ejercicios</vt:lpstr>
      <vt:lpstr>SINTAXIS PHP: printf Ejercicio 2.prueba1</vt:lpstr>
      <vt:lpstr>SINTAXIS PHP: echo y print</vt:lpstr>
      <vt:lpstr>Presentación de PowerPoint</vt:lpstr>
      <vt:lpstr>Presentación de PowerPoint</vt:lpstr>
      <vt:lpstr>Presentación de PowerPoint</vt:lpstr>
      <vt:lpstr>Presentación de PowerPoint</vt:lpstr>
      <vt:lpstr>Presentación de PowerPoint</vt:lpstr>
      <vt:lpstr>OPERADORES</vt:lpstr>
      <vt:lpstr>Presentación de PowerPoint</vt:lpstr>
      <vt:lpstr>Funciones</vt:lpstr>
      <vt:lpstr>Condicionales</vt:lpstr>
      <vt:lpstr>Condicionales</vt:lpstr>
      <vt:lpstr>Funciones</vt:lpstr>
      <vt:lpstr>Funciones</vt:lpstr>
      <vt:lpstr>Funciones</vt:lpstr>
      <vt:lpstr>Funciones</vt:lpstr>
      <vt:lpstr>EJERCICIO Fecha Formateada</vt:lpstr>
      <vt:lpstr>Funciones</vt:lpstr>
      <vt:lpstr>Presentación de PowerPoint</vt:lpstr>
      <vt:lpstr>EJERCICIO 2-23</vt:lpstr>
      <vt:lpstr>ESTRUCTURAS DE CONTROL EN PHP: </vt:lpstr>
      <vt:lpstr>ESTRUCTURAS DE CONTROL EN PHP: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WEB CON PHP ejercicios</dc:title>
  <dc:creator>DPTO.INF</dc:creator>
  <cp:lastModifiedBy>admin</cp:lastModifiedBy>
  <cp:revision>1</cp:revision>
  <dcterms:created xsi:type="dcterms:W3CDTF">2023-07-05T17:23:20Z</dcterms:created>
  <dcterms:modified xsi:type="dcterms:W3CDTF">2026-09-09T19:17:21Z</dcterms:modified>
</cp:coreProperties>
</file>